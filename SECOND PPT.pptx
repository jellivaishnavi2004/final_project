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9"/>
  </p:notesMasterIdLst>
  <p:sldIdLst>
    <p:sldId id="257" r:id="rId2"/>
    <p:sldId id="258" r:id="rId3"/>
    <p:sldId id="259" r:id="rId4"/>
    <p:sldId id="260" r:id="rId5"/>
    <p:sldId id="322" r:id="rId6"/>
    <p:sldId id="308" r:id="rId7"/>
    <p:sldId id="261" r:id="rId8"/>
    <p:sldId id="307" r:id="rId9"/>
    <p:sldId id="262" r:id="rId10"/>
    <p:sldId id="263" r:id="rId11"/>
    <p:sldId id="264" r:id="rId12"/>
    <p:sldId id="265" r:id="rId13"/>
    <p:sldId id="266" r:id="rId14"/>
    <p:sldId id="268" r:id="rId15"/>
    <p:sldId id="267" r:id="rId16"/>
    <p:sldId id="269" r:id="rId17"/>
    <p:sldId id="270" r:id="rId18"/>
    <p:sldId id="271" r:id="rId19"/>
    <p:sldId id="272" r:id="rId20"/>
    <p:sldId id="275" r:id="rId21"/>
    <p:sldId id="276" r:id="rId22"/>
    <p:sldId id="277" r:id="rId23"/>
    <p:sldId id="278" r:id="rId24"/>
    <p:sldId id="279" r:id="rId25"/>
    <p:sldId id="309" r:id="rId26"/>
    <p:sldId id="310" r:id="rId27"/>
    <p:sldId id="280" r:id="rId28"/>
    <p:sldId id="281" r:id="rId29"/>
    <p:sldId id="282" r:id="rId30"/>
    <p:sldId id="283" r:id="rId31"/>
    <p:sldId id="284" r:id="rId32"/>
    <p:sldId id="285" r:id="rId33"/>
    <p:sldId id="286" r:id="rId34"/>
    <p:sldId id="297" r:id="rId35"/>
    <p:sldId id="296" r:id="rId36"/>
    <p:sldId id="301" r:id="rId37"/>
    <p:sldId id="29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25F235-F2E2-47A7-8213-54A3F9EC3B19}"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8C816C-8544-40E2-B578-3C9FB3A192AF}" type="slidenum">
              <a:rPr lang="en-IN" smtClean="0"/>
              <a:t>‹#›</a:t>
            </a:fld>
            <a:endParaRPr lang="en-IN"/>
          </a:p>
        </p:txBody>
      </p:sp>
    </p:spTree>
    <p:extLst>
      <p:ext uri="{BB962C8B-B14F-4D97-AF65-F5344CB8AC3E}">
        <p14:creationId xmlns:p14="http://schemas.microsoft.com/office/powerpoint/2010/main" val="3880496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8C816C-8544-40E2-B578-3C9FB3A192AF}" type="slidenum">
              <a:rPr lang="en-IN" smtClean="0"/>
              <a:t>10</a:t>
            </a:fld>
            <a:endParaRPr lang="en-IN"/>
          </a:p>
        </p:txBody>
      </p:sp>
    </p:spTree>
    <p:extLst>
      <p:ext uri="{BB962C8B-B14F-4D97-AF65-F5344CB8AC3E}">
        <p14:creationId xmlns:p14="http://schemas.microsoft.com/office/powerpoint/2010/main" val="447534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499989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79919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059314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0C4F3F-57E7-4669-9713-D738C1EDBA93}"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84021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0C4F3F-57E7-4669-9713-D738C1EDBA93}" type="datetimeFigureOut">
              <a:rPr lang="en-IN" smtClean="0"/>
              <a:t>10-02-2026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112138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0C4F3F-57E7-4669-9713-D738C1EDBA93}" type="datetimeFigureOut">
              <a:rPr lang="en-IN" smtClean="0"/>
              <a:t>10-02-2026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908967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0C4F3F-57E7-4669-9713-D738C1EDBA93}" type="datetimeFigureOut">
              <a:rPr lang="en-IN" smtClean="0"/>
              <a:t>10-02-2026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012774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4241731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39806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359096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512407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954421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98581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4745434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921795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4003611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98898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60C4F3F-57E7-4669-9713-D738C1EDBA93}" type="datetimeFigureOut">
              <a:rPr lang="en-IN" smtClean="0"/>
              <a:t>10-02-2026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8B6C0AF-2541-437A-B8FC-F0BD5FC1728D}" type="slidenum">
              <a:rPr lang="en-IN" smtClean="0"/>
              <a:t>‹#›</a:t>
            </a:fld>
            <a:endParaRPr lang="en-IN"/>
          </a:p>
        </p:txBody>
      </p:sp>
    </p:spTree>
    <p:extLst>
      <p:ext uri="{BB962C8B-B14F-4D97-AF65-F5344CB8AC3E}">
        <p14:creationId xmlns:p14="http://schemas.microsoft.com/office/powerpoint/2010/main" val="31509121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51102" y="2378879"/>
            <a:ext cx="9288966" cy="954107"/>
          </a:xfrm>
          <a:prstGeom prst="rect">
            <a:avLst/>
          </a:prstGeom>
        </p:spPr>
        <p:txBody>
          <a:bodyPr wrap="square">
            <a:spAutoFit/>
          </a:bodyPr>
          <a:lstStyle/>
          <a:p>
            <a:pPr algn="ctr"/>
            <a:r>
              <a:rPr lang="en-US" sz="2800" b="1" dirty="0">
                <a:latin typeface="Times New Roman" panose="02020603050405020304" pitchFamily="18" charset="0"/>
                <a:cs typeface="Times New Roman" panose="02020603050405020304" pitchFamily="18" charset="0"/>
              </a:rPr>
              <a:t>HEISENBERG GROUP-BASED DIGITAL SIGNATURES FOR SECURE COMMUNICATIONS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908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7703" y="0"/>
            <a:ext cx="5141413" cy="633549"/>
          </a:xfrm>
        </p:spPr>
        <p:txBody>
          <a:bodyPr>
            <a:normAutofit fontScale="90000"/>
          </a:bodyPr>
          <a:lstStyle/>
          <a:p>
            <a:pPr algn="ctr"/>
            <a:br>
              <a:rPr lang="en-US" sz="2800" b="1" dirty="0">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INDEX</a:t>
            </a:r>
            <a:endParaRPr lang="en-IN" sz="2800" b="1" dirty="0">
              <a:solidFill>
                <a:schemeClr val="tx1"/>
              </a:solidFill>
            </a:endParaRPr>
          </a:p>
        </p:txBody>
      </p:sp>
      <p:sp>
        <p:nvSpPr>
          <p:cNvPr id="3" name="Content Placeholder 2"/>
          <p:cNvSpPr>
            <a:spLocks noGrp="1"/>
          </p:cNvSpPr>
          <p:nvPr>
            <p:ph idx="1"/>
          </p:nvPr>
        </p:nvSpPr>
        <p:spPr>
          <a:xfrm>
            <a:off x="1364964" y="1524000"/>
            <a:ext cx="3788229" cy="5172299"/>
          </a:xfrm>
        </p:spPr>
        <p:txBody>
          <a:bodyPr>
            <a:noAutofit/>
          </a:bodyPr>
          <a:lstStyle/>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Abstract</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Introduction</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Motivation</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Problem Statement</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Objective of the project</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Scope</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Project Introduction</a:t>
            </a:r>
          </a:p>
          <a:p>
            <a:pPr lvl="2">
              <a:lnSpc>
                <a:spcPct val="15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Proposed Method</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Literature review</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Advantages</a:t>
            </a:r>
          </a:p>
          <a:p>
            <a:pPr lvl="2">
              <a:lnSpc>
                <a:spcPct val="15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marL="914400" lvl="2" indent="0">
              <a:lnSpc>
                <a:spcPct val="200000"/>
              </a:lnSpc>
              <a:buClr>
                <a:schemeClr val="accent1"/>
              </a:buClr>
              <a:buSzPct val="150000"/>
              <a:buNone/>
            </a:pPr>
            <a:endParaRPr lang="en-US" sz="1400" b="1" dirty="0">
              <a:latin typeface="Times New Roman" panose="02020603050405020304" pitchFamily="18" charset="0"/>
              <a:cs typeface="Times New Roman" panose="02020603050405020304" pitchFamily="18" charset="0"/>
            </a:endParaRPr>
          </a:p>
          <a:p>
            <a:pPr>
              <a:lnSpc>
                <a:spcPct val="150000"/>
              </a:lnSpc>
            </a:pPr>
            <a:endParaRPr lang="en-IN" sz="1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6372393" y="773974"/>
            <a:ext cx="5674633" cy="5249514"/>
          </a:xfrm>
          <a:prstGeom prst="rect">
            <a:avLst/>
          </a:prstGeom>
          <a:noFill/>
        </p:spPr>
        <p:txBody>
          <a:bodyPr wrap="square" rtlCol="0">
            <a:spAutoFit/>
          </a:bodyPr>
          <a:lstStyle/>
          <a:p>
            <a:pPr lvl="2">
              <a:lnSpc>
                <a:spcPct val="200000"/>
              </a:lnSpc>
              <a:buClr>
                <a:schemeClr val="accent1"/>
              </a:buClr>
              <a:buSzPct val="150000"/>
            </a:pPr>
            <a:endParaRPr lang="en-US" sz="1400" b="1" dirty="0">
              <a:latin typeface="Times New Roman" panose="02020603050405020304" pitchFamily="18" charset="0"/>
              <a:cs typeface="Times New Roman" panose="02020603050405020304" pitchFamily="18" charset="0"/>
            </a:endParaRP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Project flow </a:t>
            </a: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Hardware and software requirement </a:t>
            </a: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Implementation </a:t>
            </a:r>
          </a:p>
          <a:p>
            <a:pPr marL="1714500" lvl="3" indent="-34290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User</a:t>
            </a:r>
          </a:p>
          <a:p>
            <a:pPr marL="1714500" lvl="3" indent="-34290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Vendor</a:t>
            </a: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Uml diagram</a:t>
            </a:r>
          </a:p>
          <a:p>
            <a:pPr marL="1200150" lvl="2" indent="-285750">
              <a:lnSpc>
                <a:spcPct val="200000"/>
              </a:lnSpc>
              <a:buClr>
                <a:schemeClr val="accent1"/>
              </a:buClr>
              <a:buSzPct val="150000"/>
              <a:buFont typeface="Wingdings" panose="05000000000000000000" pitchFamily="2" charset="2"/>
              <a:buChar char="v"/>
            </a:pPr>
            <a:r>
              <a:rPr lang="en-US" sz="1400" b="1">
                <a:latin typeface="Times New Roman" panose="02020603050405020304" pitchFamily="18" charset="0"/>
                <a:cs typeface="Times New Roman" panose="02020603050405020304" pitchFamily="18" charset="0"/>
              </a:rPr>
              <a:t>Future </a:t>
            </a:r>
            <a:r>
              <a:rPr lang="en-US" sz="1400" b="1" dirty="0">
                <a:latin typeface="Times New Roman" panose="02020603050405020304" pitchFamily="18" charset="0"/>
                <a:cs typeface="Times New Roman" panose="02020603050405020304" pitchFamily="18" charset="0"/>
              </a:rPr>
              <a:t>work</a:t>
            </a: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Conclusion</a:t>
            </a: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References</a:t>
            </a:r>
          </a:p>
          <a:p>
            <a:pPr marL="1200150" lvl="2" indent="-285750">
              <a:lnSpc>
                <a:spcPct val="200000"/>
              </a:lnSpc>
              <a:buClr>
                <a:schemeClr val="accent1"/>
              </a:buClr>
              <a:buSzPct val="150000"/>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marL="1200150" lvl="2" indent="-285750">
              <a:lnSpc>
                <a:spcPct val="200000"/>
              </a:lnSpc>
              <a:buClr>
                <a:schemeClr val="accent1"/>
              </a:buClr>
              <a:buSzPct val="15000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252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551" y="1"/>
            <a:ext cx="10018713" cy="849086"/>
          </a:xfrm>
        </p:spPr>
        <p:txBody>
          <a:bodyPr>
            <a:normAutofit/>
          </a:bodyPr>
          <a:lstStyle/>
          <a:p>
            <a:pPr algn="ctr"/>
            <a:r>
              <a:rPr lang="en-US" sz="2800" dirty="0">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ABSTRACT</a:t>
            </a:r>
            <a:endParaRPr lang="en-IN" sz="2800" dirty="0">
              <a:solidFill>
                <a:schemeClr val="tx1"/>
              </a:solidFill>
            </a:endParaRPr>
          </a:p>
        </p:txBody>
      </p:sp>
      <p:sp>
        <p:nvSpPr>
          <p:cNvPr id="3" name="Content Placeholder 2"/>
          <p:cNvSpPr>
            <a:spLocks noGrp="1"/>
          </p:cNvSpPr>
          <p:nvPr>
            <p:ph idx="1"/>
          </p:nvPr>
        </p:nvSpPr>
        <p:spPr>
          <a:xfrm>
            <a:off x="1602291" y="919975"/>
            <a:ext cx="9327647" cy="5018049"/>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this project, we present a secure cloud-based data storage solution that employs Edwards-Curve Digital Signature Algorithm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to ensure the integrity and authenticity of stored data. Users can upload various types of data, including files, videos, and music, to the cloud. To secure communication between the user and the server, the system utilizes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a modern and efficient cryptographic algorithm, which provides enhanced security, data integrity, and non-repudiation. This approach leverages elliptic curve cryptography to protect against unauthorized access and safeguard data against emerging security threats, including those posed by quantum computing.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offers a faster, more secure, and scalable solution compared to traditional digital signature schemes, making it highly suitable for cloud data storage systems. The proposed system provides a quantum-resilient solution for cloud storage, ensuring that sensitive data remains protected against both current and future cryptographic challenges.</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Keywords: Cloud Storage,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Digital Signatures, Data Integrity, Authentication, Cryptography, Non-repudiation, Secure Communication, Quantum Security, Data Protection.</a:t>
            </a:r>
          </a:p>
        </p:txBody>
      </p:sp>
    </p:spTree>
    <p:extLst>
      <p:ext uri="{BB962C8B-B14F-4D97-AF65-F5344CB8AC3E}">
        <p14:creationId xmlns:p14="http://schemas.microsoft.com/office/powerpoint/2010/main" val="4032276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3865" y="137161"/>
            <a:ext cx="10018713" cy="529046"/>
          </a:xfrm>
        </p:spPr>
        <p:txBody>
          <a:bodyPr>
            <a:normAutofit/>
          </a:bodyPr>
          <a:lstStyle/>
          <a:p>
            <a:pPr algn="ctr"/>
            <a:r>
              <a:rPr lang="en-US" sz="2800" dirty="0">
                <a:solidFill>
                  <a:schemeClr val="tx1"/>
                </a:solidFill>
                <a:latin typeface="Times New Roman" panose="02020603050405020304" pitchFamily="18" charset="0"/>
                <a:cs typeface="Times New Roman" panose="02020603050405020304" pitchFamily="18" charset="0"/>
              </a:rPr>
              <a:t>INTRODUCTION</a:t>
            </a:r>
            <a:endParaRPr lang="en-IN" sz="2800" dirty="0">
              <a:solidFill>
                <a:schemeClr val="tx1"/>
              </a:solidFill>
            </a:endParaRPr>
          </a:p>
        </p:txBody>
      </p:sp>
      <p:sp>
        <p:nvSpPr>
          <p:cNvPr id="3" name="Content Placeholder 2"/>
          <p:cNvSpPr>
            <a:spLocks noGrp="1"/>
          </p:cNvSpPr>
          <p:nvPr>
            <p:ph idx="1"/>
          </p:nvPr>
        </p:nvSpPr>
        <p:spPr>
          <a:xfrm>
            <a:off x="1678575" y="872836"/>
            <a:ext cx="10018713" cy="5985164"/>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today's digital world, cloud storage has become a fundamental service for individuals and organizations alike, allowing easy access to data and the ability to share it across multiple devices. It plays a crucial role in storing sensitive and critical data, from personal documents to business information. However, as the volume of sensitive data stored in the cloud grows, the need for robust security mechanisms becomes even more critical.</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Traditional encryption techniques, such as RSA and ECDSA, have been widely adopted to protect data in the cloud. While these methods provide a certain level of security, they are increasingly vulnerable to the rise of quantum computing. Quantum computers, with their ability to solve complex mathematical problems much faster than classical computers, can potentially break the security of widely used cryptographic systems, posing a significant threat to data confidentiality and integrity.</a:t>
            </a:r>
          </a:p>
        </p:txBody>
      </p:sp>
    </p:spTree>
    <p:extLst>
      <p:ext uri="{BB962C8B-B14F-4D97-AF65-F5344CB8AC3E}">
        <p14:creationId xmlns:p14="http://schemas.microsoft.com/office/powerpoint/2010/main" val="319143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9E2A8-338F-FA8C-1D67-BF50A7C80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37F99-ECD1-B115-C1DD-3A03244C7B2B}"/>
              </a:ext>
            </a:extLst>
          </p:cNvPr>
          <p:cNvSpPr>
            <a:spLocks noGrp="1"/>
          </p:cNvSpPr>
          <p:nvPr>
            <p:ph type="title"/>
          </p:nvPr>
        </p:nvSpPr>
        <p:spPr>
          <a:xfrm>
            <a:off x="1183865" y="137161"/>
            <a:ext cx="10018713" cy="529046"/>
          </a:xfrm>
        </p:spPr>
        <p:txBody>
          <a:bodyPr>
            <a:normAutofit/>
          </a:bodyPr>
          <a:lstStyle/>
          <a:p>
            <a:pPr algn="ctr"/>
            <a:r>
              <a:rPr lang="en-US" sz="2800" dirty="0">
                <a:solidFill>
                  <a:schemeClr val="tx1"/>
                </a:solidFill>
                <a:latin typeface="Times New Roman" panose="02020603050405020304" pitchFamily="18" charset="0"/>
                <a:cs typeface="Times New Roman" panose="02020603050405020304" pitchFamily="18" charset="0"/>
              </a:rPr>
              <a:t>INTRODUCTION</a:t>
            </a:r>
            <a:endParaRPr lang="en-IN" sz="2800" dirty="0">
              <a:solidFill>
                <a:schemeClr val="tx1"/>
              </a:solidFill>
            </a:endParaRPr>
          </a:p>
        </p:txBody>
      </p:sp>
      <p:sp>
        <p:nvSpPr>
          <p:cNvPr id="3" name="Content Placeholder 2">
            <a:extLst>
              <a:ext uri="{FF2B5EF4-FFF2-40B4-BE49-F238E27FC236}">
                <a16:creationId xmlns:a16="http://schemas.microsoft.com/office/drawing/2014/main" id="{FC5593A1-D2E7-5A54-37CB-3D848AF4FC4A}"/>
              </a:ext>
            </a:extLst>
          </p:cNvPr>
          <p:cNvSpPr>
            <a:spLocks noGrp="1"/>
          </p:cNvSpPr>
          <p:nvPr>
            <p:ph idx="1"/>
          </p:nvPr>
        </p:nvSpPr>
        <p:spPr>
          <a:xfrm>
            <a:off x="1678575" y="872836"/>
            <a:ext cx="10018713" cy="5985164"/>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This project aims to tackle these challenges by developing a quantum-resistant cloud storage system using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is a modern elliptic curve-based digital signature scheme that offers several advantages over traditional cryptographic algorithms. It provides better security, smaller key sizes, and faster performance, making it more efficient for securing cloud-based data. Furthermore,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is resistant to certain cryptographic attacks, including those posed by quantum computing, making it a suitable choice for future-proofing cloud storage systems.</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The proposed system leverages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to provide secure communication and data storage by signing and verifying files and messages. This ensures that the data remains untampered with and authentic. The system will enable users to upload, store, and retrieve various types of files, including documents, images, videos, and music, while ensuring their confidentiality and integrity through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digital signatures. Additionally, the system will offer features such as non-repudiation, meaning that once a file is uploaded and signed, it cannot be denied or altered by the sender.</a:t>
            </a:r>
          </a:p>
        </p:txBody>
      </p:sp>
    </p:spTree>
    <p:extLst>
      <p:ext uri="{BB962C8B-B14F-4D97-AF65-F5344CB8AC3E}">
        <p14:creationId xmlns:p14="http://schemas.microsoft.com/office/powerpoint/2010/main" val="2284455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3865" y="137161"/>
            <a:ext cx="10018713" cy="529046"/>
          </a:xfrm>
        </p:spPr>
        <p:txBody>
          <a:bodyPr>
            <a:normAutofit/>
          </a:bodyPr>
          <a:lstStyle/>
          <a:p>
            <a:pPr algn="ctr"/>
            <a:r>
              <a:rPr lang="en-US" sz="2800" dirty="0">
                <a:latin typeface="Times New Roman" panose="02020603050405020304" pitchFamily="18" charset="0"/>
                <a:cs typeface="Times New Roman" panose="02020603050405020304" pitchFamily="18" charset="0"/>
              </a:rPr>
              <a:t>Motivation</a:t>
            </a:r>
            <a:endParaRPr lang="en-IN" sz="2800" dirty="0">
              <a:solidFill>
                <a:schemeClr val="tx1"/>
              </a:solidFill>
            </a:endParaRPr>
          </a:p>
        </p:txBody>
      </p:sp>
      <p:sp>
        <p:nvSpPr>
          <p:cNvPr id="3" name="Content Placeholder 2"/>
          <p:cNvSpPr>
            <a:spLocks noGrp="1"/>
          </p:cNvSpPr>
          <p:nvPr>
            <p:ph idx="1"/>
          </p:nvPr>
        </p:nvSpPr>
        <p:spPr>
          <a:xfrm>
            <a:off x="1523498" y="1071154"/>
            <a:ext cx="10018713" cy="4898571"/>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With the increasing reliance on cloud storage for sensitive data, ensuring robust security is critical. Traditional cryptographic methods like RSA and ECDSA are becoming vulnerable to emerging threats, particularly quantum computing.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based on elliptic curve cryptography, offers enhanced security, smaller key sizes, and faster performance compared to conventional methods. It is also more resistant to quantum attacks, making it a future-proof solution for cloud data protection. This project aims to provide a secure, scalable, and efficient cryptographic solution using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to address current and future security challenges in cloud storage.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251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Objective</a:t>
            </a:r>
            <a:br>
              <a:rPr lang="en-US" sz="2800" dirty="0">
                <a:latin typeface="Times New Roman" panose="02020603050405020304" pitchFamily="18" charset="0"/>
                <a:ea typeface="Calibri" panose="020F0502020204030204" pitchFamily="34" charset="0"/>
                <a:cs typeface="Times New Roman" panose="02020603050405020304" pitchFamily="18" charset="0"/>
              </a:rPr>
            </a:br>
            <a:endParaRPr lang="en-IN" sz="2800" dirty="0"/>
          </a:p>
        </p:txBody>
      </p:sp>
      <p:sp>
        <p:nvSpPr>
          <p:cNvPr id="3" name="Content Placeholder 2"/>
          <p:cNvSpPr>
            <a:spLocks noGrp="1"/>
          </p:cNvSpPr>
          <p:nvPr>
            <p:ph idx="1"/>
          </p:nvPr>
        </p:nvSpPr>
        <p:spPr>
          <a:xfrm>
            <a:off x="1200150" y="2336504"/>
            <a:ext cx="10820400" cy="3124201"/>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objective of this project is to develop a secure cloud storage system that integrates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to ensure data integrity, authenticity, and confidentiality. The system aims to provide secure communication and data storage by utilizing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digital signatures, ensuring resistance against quantum computing threats, and making it future-proof. Additionally, the project focuses on guaranteeing non-repudiation and integrity of the uploaded data, developing a scalable solution that can efficiently handle increasing data volumes and user load, and providing a user-friendly interface for easy data upload, retrieval, and management within the cloud.</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323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1876" y="273205"/>
            <a:ext cx="10018713" cy="551985"/>
          </a:xfrm>
        </p:spPr>
        <p:txBody>
          <a:bodyPr>
            <a:normAutofit/>
          </a:bodyPr>
          <a:lstStyle/>
          <a:p>
            <a:pPr algn="ctr"/>
            <a:r>
              <a:rPr lang="en-US" sz="2800" dirty="0">
                <a:latin typeface="Times New Roman" panose="02020603050405020304" pitchFamily="18" charset="0"/>
                <a:cs typeface="Times New Roman" panose="02020603050405020304" pitchFamily="18" charset="0"/>
              </a:rPr>
              <a:t>Problem Statement</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04693" y="825191"/>
            <a:ext cx="10315896" cy="5575610"/>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As cloud storage becomes the primary solution for managing sensitive data, ensuring its security and integrity has become a major concern. Traditional cryptographic methods like RSA and ECDSA are increasingly vulnerable to quantum computing threats, which can compromise data confidentiality and integrity. The challenge lies in developing a secure, scalable, and future-proof cloud storage system that can withstand evolving cryptographic threats, including quantum computing. This project addresses these concerns by implementing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a quantum-resistant cryptographic algorithm, to ensure secure data storage, integrity, and communication in the cloud.</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533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5148" y="408710"/>
            <a:ext cx="10018713" cy="949036"/>
          </a:xfrm>
        </p:spPr>
        <p:txBody>
          <a:bodyPr>
            <a:normAutofit/>
          </a:bodyPr>
          <a:lstStyle/>
          <a:p>
            <a:pPr algn="ctr"/>
            <a:r>
              <a:rPr lang="en-US" sz="2400" b="1" dirty="0">
                <a:solidFill>
                  <a:schemeClr val="tx1"/>
                </a:solidFill>
                <a:latin typeface="Arial" panose="020B0604020202020204" pitchFamily="34" charset="0"/>
                <a:cs typeface="Arial" panose="020B0604020202020204" pitchFamily="34" charset="0"/>
              </a:rPr>
              <a:t>Scope</a:t>
            </a:r>
            <a:endParaRPr lang="en-IN" sz="24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723735" y="674976"/>
            <a:ext cx="10018713" cy="5181600"/>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This project focuses on developing a secure cloud storage system that integrates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to enhance data security. It includes features for users to upload, store, and retrieve various types of data, such as documents, videos, and music, to the cloud. The system will ensure the integrity and confidentiality of the data through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digital signatures, protecting it from unauthorized access and tampering. The project also addresses the growing concern of quantum computing threats, ensuring the system remains secure in a post-quantum environment. Additionally, it emphasizes scalability, allowing the system to handle large volumes of data and users while maintaining high performance. The user interface will be designed for ease of use, enabling seamless interaction with the cloud storage system.</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911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79866" y="84908"/>
            <a:ext cx="4188134" cy="584775"/>
          </a:xfrm>
          <a:prstGeom prst="rect">
            <a:avLst/>
          </a:prstGeom>
        </p:spPr>
        <p:txBody>
          <a:bodyPr wrap="none">
            <a:spAutoFit/>
          </a:bodyPr>
          <a:lstStyle/>
          <a:p>
            <a:pPr algn="ctr"/>
            <a:r>
              <a:rPr lang="en-US" sz="32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LITERATURE SURVEY</a:t>
            </a:r>
            <a:endParaRPr lang="en-US" sz="32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1484314" y="2811780"/>
          <a:ext cx="10018710" cy="365760"/>
        </p:xfrm>
        <a:graphic>
          <a:graphicData uri="http://schemas.openxmlformats.org/drawingml/2006/table">
            <a:tbl>
              <a:tblPr/>
              <a:tblGrid>
                <a:gridCol w="2003742">
                  <a:extLst>
                    <a:ext uri="{9D8B030D-6E8A-4147-A177-3AD203B41FA5}">
                      <a16:colId xmlns:a16="http://schemas.microsoft.com/office/drawing/2014/main" val="2652411590"/>
                    </a:ext>
                  </a:extLst>
                </a:gridCol>
                <a:gridCol w="2003742">
                  <a:extLst>
                    <a:ext uri="{9D8B030D-6E8A-4147-A177-3AD203B41FA5}">
                      <a16:colId xmlns:a16="http://schemas.microsoft.com/office/drawing/2014/main" val="2121700156"/>
                    </a:ext>
                  </a:extLst>
                </a:gridCol>
                <a:gridCol w="2003742">
                  <a:extLst>
                    <a:ext uri="{9D8B030D-6E8A-4147-A177-3AD203B41FA5}">
                      <a16:colId xmlns:a16="http://schemas.microsoft.com/office/drawing/2014/main" val="3090435851"/>
                    </a:ext>
                  </a:extLst>
                </a:gridCol>
                <a:gridCol w="2003742">
                  <a:extLst>
                    <a:ext uri="{9D8B030D-6E8A-4147-A177-3AD203B41FA5}">
                      <a16:colId xmlns:a16="http://schemas.microsoft.com/office/drawing/2014/main" val="3456974849"/>
                    </a:ext>
                  </a:extLst>
                </a:gridCol>
                <a:gridCol w="2003742">
                  <a:extLst>
                    <a:ext uri="{9D8B030D-6E8A-4147-A177-3AD203B41FA5}">
                      <a16:colId xmlns:a16="http://schemas.microsoft.com/office/drawing/2014/main" val="952671388"/>
                    </a:ext>
                  </a:extLst>
                </a:gridCol>
              </a:tblGrid>
              <a:tr h="0">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2022642313"/>
                  </a:ext>
                </a:extLst>
              </a:tr>
            </a:tbl>
          </a:graphicData>
        </a:graphic>
      </p:graphicFrame>
      <p:graphicFrame>
        <p:nvGraphicFramePr>
          <p:cNvPr id="13" name="Table 12"/>
          <p:cNvGraphicFramePr>
            <a:graphicFrameLocks noGrp="1"/>
          </p:cNvGraphicFramePr>
          <p:nvPr/>
        </p:nvGraphicFramePr>
        <p:xfrm>
          <a:off x="6779623" y="4046220"/>
          <a:ext cx="4723402" cy="365760"/>
        </p:xfrm>
        <a:graphic>
          <a:graphicData uri="http://schemas.openxmlformats.org/drawingml/2006/table">
            <a:tbl>
              <a:tblPr/>
              <a:tblGrid>
                <a:gridCol w="4723402">
                  <a:extLst>
                    <a:ext uri="{9D8B030D-6E8A-4147-A177-3AD203B41FA5}">
                      <a16:colId xmlns:a16="http://schemas.microsoft.com/office/drawing/2014/main" val="1836913631"/>
                    </a:ext>
                  </a:extLst>
                </a:gridCol>
              </a:tblGrid>
              <a:tr h="0">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410783307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756795768"/>
              </p:ext>
            </p:extLst>
          </p:nvPr>
        </p:nvGraphicFramePr>
        <p:xfrm>
          <a:off x="2365375" y="1720532"/>
          <a:ext cx="9826625" cy="365760"/>
        </p:xfrm>
        <a:graphic>
          <a:graphicData uri="http://schemas.openxmlformats.org/drawingml/2006/table">
            <a:tbl>
              <a:tblPr/>
              <a:tblGrid>
                <a:gridCol w="1965325">
                  <a:extLst>
                    <a:ext uri="{9D8B030D-6E8A-4147-A177-3AD203B41FA5}">
                      <a16:colId xmlns:a16="http://schemas.microsoft.com/office/drawing/2014/main" val="2274339713"/>
                    </a:ext>
                  </a:extLst>
                </a:gridCol>
                <a:gridCol w="1965325">
                  <a:extLst>
                    <a:ext uri="{9D8B030D-6E8A-4147-A177-3AD203B41FA5}">
                      <a16:colId xmlns:a16="http://schemas.microsoft.com/office/drawing/2014/main" val="3070690383"/>
                    </a:ext>
                  </a:extLst>
                </a:gridCol>
                <a:gridCol w="1965325">
                  <a:extLst>
                    <a:ext uri="{9D8B030D-6E8A-4147-A177-3AD203B41FA5}">
                      <a16:colId xmlns:a16="http://schemas.microsoft.com/office/drawing/2014/main" val="663991479"/>
                    </a:ext>
                  </a:extLst>
                </a:gridCol>
                <a:gridCol w="1965325">
                  <a:extLst>
                    <a:ext uri="{9D8B030D-6E8A-4147-A177-3AD203B41FA5}">
                      <a16:colId xmlns:a16="http://schemas.microsoft.com/office/drawing/2014/main" val="1658824066"/>
                    </a:ext>
                  </a:extLst>
                </a:gridCol>
                <a:gridCol w="1965325">
                  <a:extLst>
                    <a:ext uri="{9D8B030D-6E8A-4147-A177-3AD203B41FA5}">
                      <a16:colId xmlns:a16="http://schemas.microsoft.com/office/drawing/2014/main" val="334451483"/>
                    </a:ext>
                  </a:extLst>
                </a:gridCol>
              </a:tblGrid>
              <a:tr h="0">
                <a:tc>
                  <a:txBody>
                    <a:bodyPr/>
                    <a:lstStyle/>
                    <a:p>
                      <a:endParaRPr lang="en-IN" dirty="0"/>
                    </a:p>
                  </a:txBody>
                  <a:tcPr anchor="ctr">
                    <a:lnL>
                      <a:noFill/>
                    </a:lnL>
                    <a:lnR>
                      <a:noFill/>
                    </a:lnR>
                    <a:lnT>
                      <a:noFill/>
                    </a:lnT>
                    <a:lnB>
                      <a:noFill/>
                    </a:lnB>
                  </a:tcPr>
                </a:tc>
                <a:tc>
                  <a:txBody>
                    <a:bodyPr/>
                    <a:lstStyle/>
                    <a:p>
                      <a:endParaRPr lang="en-IN"/>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3629476486"/>
                  </a:ext>
                </a:extLst>
              </a:tr>
            </a:tbl>
          </a:graphicData>
        </a:graphic>
      </p:graphicFrame>
      <p:graphicFrame>
        <p:nvGraphicFramePr>
          <p:cNvPr id="8" name="Table 7">
            <a:extLst>
              <a:ext uri="{FF2B5EF4-FFF2-40B4-BE49-F238E27FC236}">
                <a16:creationId xmlns:a16="http://schemas.microsoft.com/office/drawing/2014/main" id="{8A6BE9C0-5DCB-03E0-124C-6AE3ADF12948}"/>
              </a:ext>
            </a:extLst>
          </p:cNvPr>
          <p:cNvGraphicFramePr>
            <a:graphicFrameLocks noGrp="1"/>
          </p:cNvGraphicFramePr>
          <p:nvPr>
            <p:extLst>
              <p:ext uri="{D42A27DB-BD31-4B8C-83A1-F6EECF244321}">
                <p14:modId xmlns:p14="http://schemas.microsoft.com/office/powerpoint/2010/main" val="3063121042"/>
              </p:ext>
            </p:extLst>
          </p:nvPr>
        </p:nvGraphicFramePr>
        <p:xfrm>
          <a:off x="1666670" y="669683"/>
          <a:ext cx="10225905" cy="5936764"/>
        </p:xfrm>
        <a:graphic>
          <a:graphicData uri="http://schemas.openxmlformats.org/drawingml/2006/table">
            <a:tbl>
              <a:tblPr/>
              <a:tblGrid>
                <a:gridCol w="2045181">
                  <a:extLst>
                    <a:ext uri="{9D8B030D-6E8A-4147-A177-3AD203B41FA5}">
                      <a16:colId xmlns:a16="http://schemas.microsoft.com/office/drawing/2014/main" val="3583205431"/>
                    </a:ext>
                  </a:extLst>
                </a:gridCol>
                <a:gridCol w="2045181">
                  <a:extLst>
                    <a:ext uri="{9D8B030D-6E8A-4147-A177-3AD203B41FA5}">
                      <a16:colId xmlns:a16="http://schemas.microsoft.com/office/drawing/2014/main" val="2623423016"/>
                    </a:ext>
                  </a:extLst>
                </a:gridCol>
                <a:gridCol w="2045181">
                  <a:extLst>
                    <a:ext uri="{9D8B030D-6E8A-4147-A177-3AD203B41FA5}">
                      <a16:colId xmlns:a16="http://schemas.microsoft.com/office/drawing/2014/main" val="1725932545"/>
                    </a:ext>
                  </a:extLst>
                </a:gridCol>
                <a:gridCol w="2045181">
                  <a:extLst>
                    <a:ext uri="{9D8B030D-6E8A-4147-A177-3AD203B41FA5}">
                      <a16:colId xmlns:a16="http://schemas.microsoft.com/office/drawing/2014/main" val="729783445"/>
                    </a:ext>
                  </a:extLst>
                </a:gridCol>
                <a:gridCol w="2045181">
                  <a:extLst>
                    <a:ext uri="{9D8B030D-6E8A-4147-A177-3AD203B41FA5}">
                      <a16:colId xmlns:a16="http://schemas.microsoft.com/office/drawing/2014/main" val="1866028717"/>
                    </a:ext>
                  </a:extLst>
                </a:gridCol>
              </a:tblGrid>
              <a:tr h="262992">
                <a:tc>
                  <a:txBody>
                    <a:bodyPr/>
                    <a:lstStyle/>
                    <a:p>
                      <a:pPr algn="just">
                        <a:buNone/>
                      </a:pPr>
                      <a:r>
                        <a:rPr lang="en-IN" sz="1600" b="1">
                          <a:latin typeface="Times New Roman" panose="02020603050405020304" pitchFamily="18" charset="0"/>
                          <a:cs typeface="Times New Roman" panose="02020603050405020304" pitchFamily="18" charset="0"/>
                        </a:rPr>
                        <a:t>S.No</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b="1">
                          <a:latin typeface="Times New Roman" panose="02020603050405020304" pitchFamily="18" charset="0"/>
                          <a:cs typeface="Times New Roman" panose="02020603050405020304" pitchFamily="18" charset="0"/>
                        </a:rPr>
                        <a:t>Year</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b="1">
                          <a:latin typeface="Times New Roman" panose="02020603050405020304" pitchFamily="18" charset="0"/>
                          <a:cs typeface="Times New Roman" panose="02020603050405020304" pitchFamily="18" charset="0"/>
                        </a:rPr>
                        <a:t>Authors</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b="1">
                          <a:latin typeface="Times New Roman" panose="02020603050405020304" pitchFamily="18" charset="0"/>
                          <a:cs typeface="Times New Roman" panose="02020603050405020304" pitchFamily="18" charset="0"/>
                        </a:rPr>
                        <a:t>Title</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b="1">
                          <a:latin typeface="Times New Roman" panose="02020603050405020304" pitchFamily="18" charset="0"/>
                          <a:cs typeface="Times New Roman" panose="02020603050405020304" pitchFamily="18" charset="0"/>
                        </a:rPr>
                        <a:t>Outcomes</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843543"/>
                  </a:ext>
                </a:extLst>
              </a:tr>
              <a:tr h="1719523">
                <a:tc>
                  <a:txBody>
                    <a:bodyPr/>
                    <a:lstStyle/>
                    <a:p>
                      <a:pPr algn="ctr">
                        <a:buNone/>
                      </a:pPr>
                      <a:r>
                        <a:rPr lang="en-IN" sz="1600" dirty="0">
                          <a:latin typeface="Times New Roman" panose="02020603050405020304" pitchFamily="18" charset="0"/>
                          <a:cs typeface="Times New Roman" panose="02020603050405020304" pitchFamily="18" charset="0"/>
                        </a:rPr>
                        <a:t>1</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2021</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it-IT" sz="1600" dirty="0">
                          <a:latin typeface="Times New Roman" panose="02020603050405020304" pitchFamily="18" charset="0"/>
                          <a:cs typeface="Times New Roman" panose="02020603050405020304" pitchFamily="18" charset="0"/>
                        </a:rPr>
                        <a:t>Dongsheng Li, Qingxu Li, Shanshan Li</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a:latin typeface="Times New Roman" panose="02020603050405020304" pitchFamily="18" charset="0"/>
                          <a:cs typeface="Times New Roman" panose="02020603050405020304" pitchFamily="18" charset="0"/>
                        </a:rPr>
                        <a:t>A Survey on Post-Quantum Cryptography: Algorithms and Implementations</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a:latin typeface="Times New Roman" panose="02020603050405020304" pitchFamily="18" charset="0"/>
                          <a:cs typeface="Times New Roman" panose="02020603050405020304" pitchFamily="18" charset="0"/>
                        </a:rPr>
                        <a:t>In-depth survey on post-quantum cryptography, focusing on quantum-resistant algorithms and their potential for practical implementation.</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671709"/>
                  </a:ext>
                </a:extLst>
              </a:tr>
              <a:tr h="1971562">
                <a:tc>
                  <a:txBody>
                    <a:bodyPr/>
                    <a:lstStyle/>
                    <a:p>
                      <a:pPr algn="ctr">
                        <a:buNone/>
                      </a:pPr>
                      <a:r>
                        <a:rPr lang="en-IN" sz="1600" dirty="0">
                          <a:latin typeface="Times New Roman" panose="02020603050405020304" pitchFamily="18" charset="0"/>
                          <a:cs typeface="Times New Roman" panose="02020603050405020304" pitchFamily="18" charset="0"/>
                        </a:rPr>
                        <a:t>2</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2020</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David J. Bernstein, Tanja Lange, Christiane Peters</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a:latin typeface="Times New Roman" panose="02020603050405020304" pitchFamily="18" charset="0"/>
                          <a:cs typeface="Times New Roman" panose="02020603050405020304" pitchFamily="18" charset="0"/>
                        </a:rPr>
                        <a:t>Post-Quantum Cryptography: A New Era for Secure Communication</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cs typeface="Times New Roman" panose="02020603050405020304" pitchFamily="18" charset="0"/>
                        </a:rPr>
                        <a:t>Overview of post-quantum cryptography, challenges in transitioning to quantum-resistant systems, and the need for new algorithms.</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8660505"/>
                  </a:ext>
                </a:extLst>
              </a:tr>
              <a:tr h="1971562">
                <a:tc>
                  <a:txBody>
                    <a:bodyPr/>
                    <a:lstStyle/>
                    <a:p>
                      <a:pPr algn="ctr">
                        <a:buNone/>
                      </a:pPr>
                      <a:r>
                        <a:rPr lang="en-IN" sz="1600">
                          <a:latin typeface="Times New Roman" panose="02020603050405020304" pitchFamily="18" charset="0"/>
                          <a:cs typeface="Times New Roman" panose="02020603050405020304" pitchFamily="18" charset="0"/>
                        </a:rPr>
                        <a:t>3</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2020</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Wei Zhang, </a:t>
                      </a:r>
                      <a:r>
                        <a:rPr lang="en-IN" sz="1600" dirty="0" err="1">
                          <a:latin typeface="Times New Roman" panose="02020603050405020304" pitchFamily="18" charset="0"/>
                          <a:cs typeface="Times New Roman" panose="02020603050405020304" pitchFamily="18" charset="0"/>
                        </a:rPr>
                        <a:t>Xuefeng</a:t>
                      </a:r>
                      <a:r>
                        <a:rPr lang="en-IN" sz="1600" dirty="0">
                          <a:latin typeface="Times New Roman" panose="02020603050405020304" pitchFamily="18" charset="0"/>
                          <a:cs typeface="Times New Roman" panose="02020603050405020304" pitchFamily="18" charset="0"/>
                        </a:rPr>
                        <a:t> Liu, Xiang Liu</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cs typeface="Times New Roman" panose="02020603050405020304" pitchFamily="18" charset="0"/>
                        </a:rPr>
                        <a:t>AES Encryption in Modern Cryptography: A Survey</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cs typeface="Times New Roman" panose="02020603050405020304" pitchFamily="18" charset="0"/>
                        </a:rPr>
                        <a:t>Review of AES encryption, its modes, vulnerabilities, and its role in modern cryptographic systems. Discusses improvements to enhance security.</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4306908"/>
                  </a:ext>
                </a:extLst>
              </a:tr>
            </a:tbl>
          </a:graphicData>
        </a:graphic>
      </p:graphicFrame>
    </p:spTree>
    <p:extLst>
      <p:ext uri="{BB962C8B-B14F-4D97-AF65-F5344CB8AC3E}">
        <p14:creationId xmlns:p14="http://schemas.microsoft.com/office/powerpoint/2010/main" val="3033978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AFE581E-8BEE-4754-0A53-3A9753CF3C2F}"/>
              </a:ext>
            </a:extLst>
          </p:cNvPr>
          <p:cNvGraphicFramePr>
            <a:graphicFrameLocks noGrp="1"/>
          </p:cNvGraphicFramePr>
          <p:nvPr>
            <p:extLst>
              <p:ext uri="{D42A27DB-BD31-4B8C-83A1-F6EECF244321}">
                <p14:modId xmlns:p14="http://schemas.microsoft.com/office/powerpoint/2010/main" val="1816238462"/>
              </p:ext>
            </p:extLst>
          </p:nvPr>
        </p:nvGraphicFramePr>
        <p:xfrm>
          <a:off x="1661294" y="1221658"/>
          <a:ext cx="10225905" cy="3700108"/>
        </p:xfrm>
        <a:graphic>
          <a:graphicData uri="http://schemas.openxmlformats.org/drawingml/2006/table">
            <a:tbl>
              <a:tblPr/>
              <a:tblGrid>
                <a:gridCol w="2045181">
                  <a:extLst>
                    <a:ext uri="{9D8B030D-6E8A-4147-A177-3AD203B41FA5}">
                      <a16:colId xmlns:a16="http://schemas.microsoft.com/office/drawing/2014/main" val="1177223598"/>
                    </a:ext>
                  </a:extLst>
                </a:gridCol>
                <a:gridCol w="2045181">
                  <a:extLst>
                    <a:ext uri="{9D8B030D-6E8A-4147-A177-3AD203B41FA5}">
                      <a16:colId xmlns:a16="http://schemas.microsoft.com/office/drawing/2014/main" val="2697728375"/>
                    </a:ext>
                  </a:extLst>
                </a:gridCol>
                <a:gridCol w="2045181">
                  <a:extLst>
                    <a:ext uri="{9D8B030D-6E8A-4147-A177-3AD203B41FA5}">
                      <a16:colId xmlns:a16="http://schemas.microsoft.com/office/drawing/2014/main" val="247709480"/>
                    </a:ext>
                  </a:extLst>
                </a:gridCol>
                <a:gridCol w="2045181">
                  <a:extLst>
                    <a:ext uri="{9D8B030D-6E8A-4147-A177-3AD203B41FA5}">
                      <a16:colId xmlns:a16="http://schemas.microsoft.com/office/drawing/2014/main" val="2875186031"/>
                    </a:ext>
                  </a:extLst>
                </a:gridCol>
                <a:gridCol w="2045181">
                  <a:extLst>
                    <a:ext uri="{9D8B030D-6E8A-4147-A177-3AD203B41FA5}">
                      <a16:colId xmlns:a16="http://schemas.microsoft.com/office/drawing/2014/main" val="274807472"/>
                    </a:ext>
                  </a:extLst>
                </a:gridCol>
              </a:tblGrid>
              <a:tr h="1727480">
                <a:tc>
                  <a:txBody>
                    <a:bodyPr/>
                    <a:lstStyle/>
                    <a:p>
                      <a:pPr algn="ctr">
                        <a:buNone/>
                      </a:pPr>
                      <a:r>
                        <a:rPr lang="en-IN" sz="1600" dirty="0">
                          <a:latin typeface="Times New Roman" panose="02020603050405020304" pitchFamily="18" charset="0"/>
                          <a:cs typeface="Times New Roman" panose="02020603050405020304" pitchFamily="18" charset="0"/>
                        </a:rPr>
                        <a:t>4</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2019</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Yuval </a:t>
                      </a:r>
                      <a:r>
                        <a:rPr lang="en-IN" sz="1600" dirty="0" err="1">
                          <a:latin typeface="Times New Roman" panose="02020603050405020304" pitchFamily="18" charset="0"/>
                          <a:cs typeface="Times New Roman" panose="02020603050405020304" pitchFamily="18" charset="0"/>
                        </a:rPr>
                        <a:t>Ishai</a:t>
                      </a:r>
                      <a:r>
                        <a:rPr lang="en-IN" sz="1600" dirty="0">
                          <a:latin typeface="Times New Roman" panose="02020603050405020304" pitchFamily="18" charset="0"/>
                          <a:cs typeface="Times New Roman" panose="02020603050405020304" pitchFamily="18" charset="0"/>
                        </a:rPr>
                        <a:t>, Erez </a:t>
                      </a:r>
                      <a:r>
                        <a:rPr lang="en-IN" sz="1600" dirty="0" err="1">
                          <a:latin typeface="Times New Roman" panose="02020603050405020304" pitchFamily="18" charset="0"/>
                          <a:cs typeface="Times New Roman" panose="02020603050405020304" pitchFamily="18" charset="0"/>
                        </a:rPr>
                        <a:t>Petrank</a:t>
                      </a:r>
                      <a:r>
                        <a:rPr lang="en-IN" sz="1600" dirty="0">
                          <a:latin typeface="Times New Roman" panose="02020603050405020304" pitchFamily="18" charset="0"/>
                          <a:cs typeface="Times New Roman" panose="02020603050405020304" pitchFamily="18" charset="0"/>
                        </a:rPr>
                        <a:t>, Guy N. </a:t>
                      </a:r>
                      <a:r>
                        <a:rPr lang="en-IN" sz="1600" dirty="0" err="1">
                          <a:latin typeface="Times New Roman" panose="02020603050405020304" pitchFamily="18" charset="0"/>
                          <a:cs typeface="Times New Roman" panose="02020603050405020304" pitchFamily="18" charset="0"/>
                        </a:rPr>
                        <a:t>Rothblum</a:t>
                      </a:r>
                      <a:endParaRPr lang="en-IN" sz="1600" dirty="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cs typeface="Times New Roman" panose="02020603050405020304" pitchFamily="18" charset="0"/>
                        </a:rPr>
                        <a:t>Cryptographic Signatures Based on the Heisenberg Group</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cs typeface="Times New Roman" panose="02020603050405020304" pitchFamily="18" charset="0"/>
                        </a:rPr>
                        <a:t>Introduces Heisenberg group-based cryptographic signatures, exploring their resistance to classical and quantum attacks.</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89060"/>
                  </a:ext>
                </a:extLst>
              </a:tr>
              <a:tr h="1971562">
                <a:tc>
                  <a:txBody>
                    <a:bodyPr/>
                    <a:lstStyle/>
                    <a:p>
                      <a:pPr algn="ctr">
                        <a:buNone/>
                      </a:pPr>
                      <a:r>
                        <a:rPr lang="en-IN" sz="1600">
                          <a:latin typeface="Times New Roman" panose="02020603050405020304" pitchFamily="18" charset="0"/>
                          <a:cs typeface="Times New Roman" panose="02020603050405020304" pitchFamily="18" charset="0"/>
                        </a:rPr>
                        <a:t>5</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2021</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Shachar </a:t>
                      </a:r>
                      <a:r>
                        <a:rPr lang="en-IN" sz="1600" dirty="0" err="1">
                          <a:latin typeface="Times New Roman" panose="02020603050405020304" pitchFamily="18" charset="0"/>
                          <a:cs typeface="Times New Roman" panose="02020603050405020304" pitchFamily="18" charset="0"/>
                        </a:rPr>
                        <a:t>Itzhaky</a:t>
                      </a:r>
                      <a:r>
                        <a:rPr lang="en-IN" sz="1600" dirty="0">
                          <a:latin typeface="Times New Roman" panose="02020603050405020304" pitchFamily="18" charset="0"/>
                          <a:cs typeface="Times New Roman" panose="02020603050405020304" pitchFamily="18" charset="0"/>
                        </a:rPr>
                        <a:t>, Ori Shai, Adi Shamir</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Quantum-Resistant Digital Signature Schemes: An Overview</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cs typeface="Times New Roman" panose="02020603050405020304" pitchFamily="18" charset="0"/>
                        </a:rPr>
                        <a:t>Analyzes quantum-resistant digital signature schemes, including lattice-based and hash-based methods, with a focus on their security in a post-quantum world.</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5883106"/>
                  </a:ext>
                </a:extLst>
              </a:tr>
            </a:tbl>
          </a:graphicData>
        </a:graphic>
      </p:graphicFrame>
    </p:spTree>
    <p:extLst>
      <p:ext uri="{BB962C8B-B14F-4D97-AF65-F5344CB8AC3E}">
        <p14:creationId xmlns:p14="http://schemas.microsoft.com/office/powerpoint/2010/main" val="1145493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018903"/>
            <a:ext cx="10018713" cy="378824"/>
          </a:xfrm>
        </p:spPr>
        <p:txBody>
          <a:bodyPr>
            <a:noAutofit/>
          </a:bodyPr>
          <a:lstStyle/>
          <a:p>
            <a:r>
              <a:rPr lang="en-US" sz="2800" b="1" dirty="0">
                <a:solidFill>
                  <a:schemeClr val="tx1"/>
                </a:solidFill>
                <a:latin typeface="Times New Roman" panose="02020603050405020304" pitchFamily="18" charset="0"/>
                <a:cs typeface="Times New Roman" panose="02020603050405020304" pitchFamily="18" charset="0"/>
              </a:rPr>
              <a:t>EXISTING</a:t>
            </a:r>
            <a:r>
              <a:rPr lang="en-US" sz="2800" b="1" dirty="0">
                <a:latin typeface="Times New Roman" panose="02020603050405020304" pitchFamily="18" charset="0"/>
                <a:cs typeface="Times New Roman" panose="02020603050405020304" pitchFamily="18" charset="0"/>
              </a:rPr>
              <a:t> METHOD</a:t>
            </a:r>
            <a:br>
              <a:rPr lang="en-US" altLang="en-US" sz="2800" b="1" dirty="0">
                <a:latin typeface="Times New Roman" panose="02020603050405020304" pitchFamily="18" charset="0"/>
                <a:cs typeface="Times New Roman" panose="02020603050405020304" pitchFamily="18" charset="0"/>
              </a:rPr>
            </a:br>
            <a:br>
              <a:rPr lang="en-US" sz="2800" b="1" dirty="0">
                <a:latin typeface="Times New Roman" pitchFamily="18" charset="0"/>
                <a:cs typeface="Times New Roman" pitchFamily="18" charset="0"/>
              </a:rPr>
            </a:br>
            <a:endParaRPr lang="en-IN" sz="2800" dirty="0"/>
          </a:p>
        </p:txBody>
      </p:sp>
      <p:sp>
        <p:nvSpPr>
          <p:cNvPr id="3" name="Content Placeholder 2"/>
          <p:cNvSpPr>
            <a:spLocks noGrp="1"/>
          </p:cNvSpPr>
          <p:nvPr>
            <p:ph idx="1"/>
          </p:nvPr>
        </p:nvSpPr>
        <p:spPr>
          <a:xfrm>
            <a:off x="1484311" y="1208315"/>
            <a:ext cx="10131423" cy="4772298"/>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Traditional cloud storage systems use cryptographic methods like RSA, ECDSA, and AES to secure data. RSA and ECDSA, though widely used, are vulnerable to quantum computing threats, as quantum algorithms can efficiently break these encryption methods. AES, while secure, may require larger key sizes to withstand quantum attacks, affecting performance. These traditional systems struggle with scalability and efficiency, especially with large data volumes, as they rely on complex encryption and signature verification processes. These limitations highlight the need for a more secure and future-proof solution, such as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which offers better security, faster performance, and quantum resistance.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671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1797" y="1"/>
            <a:ext cx="10018713" cy="1003610"/>
          </a:xfrm>
        </p:spPr>
        <p:txBody>
          <a:bodyPr>
            <a:normAutofit/>
          </a:bodyPr>
          <a:lstStyle/>
          <a:p>
            <a:pPr>
              <a:lnSpc>
                <a:spcPct val="150000"/>
              </a:lnSpc>
            </a:pPr>
            <a:r>
              <a:rPr lang="en-IN" sz="2800" b="1" dirty="0">
                <a:solidFill>
                  <a:schemeClr val="tx1"/>
                </a:solidFill>
              </a:rPr>
              <a:t>Disadvantages</a:t>
            </a:r>
            <a:endParaRPr lang="en-IN" sz="2800" dirty="0"/>
          </a:p>
        </p:txBody>
      </p:sp>
      <p:sp>
        <p:nvSpPr>
          <p:cNvPr id="3" name="Content Placeholder 2"/>
          <p:cNvSpPr>
            <a:spLocks noGrp="1"/>
          </p:cNvSpPr>
          <p:nvPr>
            <p:ph idx="1"/>
          </p:nvPr>
        </p:nvSpPr>
        <p:spPr>
          <a:xfrm>
            <a:off x="1715115" y="1003611"/>
            <a:ext cx="10018713" cy="4567431"/>
          </a:xfrm>
        </p:spPr>
        <p:txBody>
          <a:bodyPr>
            <a:noAutofit/>
          </a:bodyPr>
          <a:lstStyle/>
          <a:p>
            <a:pPr lvl="0"/>
            <a:r>
              <a:rPr lang="en-US" sz="1600" b="1" dirty="0">
                <a:latin typeface="Times New Roman" panose="02020603050405020304" pitchFamily="18" charset="0"/>
                <a:cs typeface="Times New Roman" panose="02020603050405020304" pitchFamily="18" charset="0"/>
              </a:rPr>
              <a:t>Not Fully Quantum-Resistant</a:t>
            </a:r>
            <a:r>
              <a:rPr lang="en-US" sz="1600"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provides better security than traditional algorithms but is not entirely immune to quantum computing threats.</a:t>
            </a:r>
            <a:endParaRPr lang="en-IN"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Implementation Complexity</a:t>
            </a:r>
            <a:r>
              <a:rPr lang="en-US" sz="1600"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may be more complex to implement compared to simpler cryptographic methods, requiring more development time.</a:t>
            </a:r>
            <a:endParaRPr lang="en-IN"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Computational Overhead</a:t>
            </a:r>
            <a:r>
              <a:rPr lang="en-US" sz="1600" dirty="0">
                <a:latin typeface="Times New Roman" panose="02020603050405020304" pitchFamily="18" charset="0"/>
                <a:cs typeface="Times New Roman" panose="02020603050405020304" pitchFamily="18" charset="0"/>
              </a:rPr>
              <a:t>: While efficient, </a:t>
            </a:r>
            <a:r>
              <a:rPr lang="en-US" sz="1600" b="1"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still adds computational overhead compared to basic encryption methods.</a:t>
            </a:r>
            <a:endParaRPr lang="en-IN"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Legacy System Compatibility</a:t>
            </a:r>
            <a:r>
              <a:rPr lang="en-US" sz="1600" dirty="0">
                <a:latin typeface="Times New Roman" panose="02020603050405020304" pitchFamily="18" charset="0"/>
                <a:cs typeface="Times New Roman" panose="02020603050405020304" pitchFamily="18" charset="0"/>
              </a:rPr>
              <a:t>: Integrating </a:t>
            </a:r>
            <a:r>
              <a:rPr lang="en-US" sz="1600" b="1"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into older systems may present compatibility issues.</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Limited Adoption</a:t>
            </a:r>
            <a:r>
              <a:rPr lang="en-IN" sz="1600"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EdDSA</a:t>
            </a:r>
            <a:r>
              <a:rPr lang="en-IN" sz="1600" dirty="0">
                <a:latin typeface="Times New Roman" panose="02020603050405020304" pitchFamily="18" charset="0"/>
                <a:cs typeface="Times New Roman" panose="02020603050405020304" pitchFamily="18" charset="0"/>
              </a:rPr>
              <a:t> is relatively new, so support in some platforms and libraries may be limited.</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0242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2370" y="289932"/>
            <a:ext cx="10018713" cy="724830"/>
          </a:xfrm>
        </p:spPr>
        <p:txBody>
          <a:bodyPr>
            <a:normAutofit/>
          </a:bodyPr>
          <a:lstStyle/>
          <a:p>
            <a:pPr algn="ctr"/>
            <a:r>
              <a:rPr lang="en-US" sz="2800" b="1" dirty="0">
                <a:latin typeface="Arial" panose="020B0604020202020204" pitchFamily="34" charset="0"/>
                <a:cs typeface="Arial" panose="020B0604020202020204" pitchFamily="34" charset="0"/>
              </a:rPr>
              <a:t>PROPOSED SYSTEM</a:t>
            </a:r>
            <a:endParaRPr lang="en-IN"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841770" y="1230745"/>
            <a:ext cx="10018713" cy="5085972"/>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proposed system aims to secure cloud storage by integrating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for digital signatures, ensuring data integrity, authenticity, and confidentiality. Users will be able to upload, store, and retrieve various types of data securely, with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providing quantum-resistant protection against tampering. The system will sign and verify data using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ensuring non-repudiation and preventing unauthorized access. It will also offer scalable, high-performance security, with a user-friendly interface for seamless file management. This approach provides a future-proof, secure solution for cloud storage, addressing both current and emerging cryptographic threats.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741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9808" y="202474"/>
            <a:ext cx="10018713" cy="607423"/>
          </a:xfrm>
        </p:spPr>
        <p:txBody>
          <a:bodyPr>
            <a:normAutofit/>
          </a:bodyPr>
          <a:lstStyle/>
          <a:p>
            <a:r>
              <a:rPr lang="en-US" sz="2800" dirty="0">
                <a:solidFill>
                  <a:schemeClr val="tx1"/>
                </a:solidFill>
              </a:rPr>
              <a:t>PROJECT FLOW</a:t>
            </a:r>
            <a:endParaRPr lang="en-IN" sz="2800" dirty="0">
              <a:solidFill>
                <a:schemeClr val="tx1"/>
              </a:solidFill>
            </a:endParaRPr>
          </a:p>
        </p:txBody>
      </p:sp>
      <p:pic>
        <p:nvPicPr>
          <p:cNvPr id="5" name="Picture 4">
            <a:extLst>
              <a:ext uri="{FF2B5EF4-FFF2-40B4-BE49-F238E27FC236}">
                <a16:creationId xmlns:a16="http://schemas.microsoft.com/office/drawing/2014/main" id="{CD990679-A5B9-360A-AB35-4A104EA703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8712" y="809897"/>
            <a:ext cx="2657475" cy="5619750"/>
          </a:xfrm>
          <a:prstGeom prst="rect">
            <a:avLst/>
          </a:prstGeom>
        </p:spPr>
      </p:pic>
    </p:spTree>
    <p:extLst>
      <p:ext uri="{BB962C8B-B14F-4D97-AF65-F5344CB8AC3E}">
        <p14:creationId xmlns:p14="http://schemas.microsoft.com/office/powerpoint/2010/main" val="1681300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561" y="270164"/>
            <a:ext cx="10018713" cy="616527"/>
          </a:xfrm>
        </p:spPr>
        <p:txBody>
          <a:bodyPr>
            <a:normAutofit fontScale="90000"/>
          </a:bodyPr>
          <a:lstStyle/>
          <a:p>
            <a:pPr algn="ctr"/>
            <a:r>
              <a:rPr lang="en-IN" sz="3200" b="1" dirty="0">
                <a:latin typeface="Times New Roman" panose="02020603050405020304" pitchFamily="18" charset="0"/>
                <a:cs typeface="Times New Roman" panose="02020603050405020304" pitchFamily="18" charset="0"/>
              </a:rPr>
              <a:t>ADVANTAGES</a:t>
            </a:r>
            <a:br>
              <a:rPr lang="en-IN" sz="3200" b="1" dirty="0">
                <a:latin typeface="Times New Roman" panose="02020603050405020304" pitchFamily="18" charset="0"/>
                <a:cs typeface="Times New Roman" panose="02020603050405020304" pitchFamily="18" charset="0"/>
              </a:rPr>
            </a:br>
            <a:endParaRPr lang="en-IN" sz="3200" dirty="0"/>
          </a:p>
        </p:txBody>
      </p:sp>
      <p:sp>
        <p:nvSpPr>
          <p:cNvPr id="3" name="Content Placeholder 2"/>
          <p:cNvSpPr>
            <a:spLocks noGrp="1"/>
          </p:cNvSpPr>
          <p:nvPr>
            <p:ph idx="1"/>
          </p:nvPr>
        </p:nvSpPr>
        <p:spPr>
          <a:xfrm>
            <a:off x="1705984" y="2015835"/>
            <a:ext cx="9031290" cy="3124201"/>
          </a:xfrm>
        </p:spPr>
        <p:txBody>
          <a:bodyPr>
            <a:noAutofit/>
          </a:bodyPr>
          <a:lstStyle/>
          <a:p>
            <a:pPr marL="0" lvl="0" indent="0">
              <a:lnSpc>
                <a:spcPct val="150000"/>
              </a:lnSpc>
              <a:buNone/>
            </a:pPr>
            <a:r>
              <a:rPr lang="en-US" sz="1500" dirty="0">
                <a:latin typeface="Arial" panose="020B0604020202020204" pitchFamily="34" charset="0"/>
                <a:cs typeface="Arial" panose="020B0604020202020204" pitchFamily="34" charset="0"/>
              </a:rPr>
              <a:t>.</a:t>
            </a:r>
            <a:endParaRPr lang="en-IN" sz="1500" dirty="0">
              <a:latin typeface="Arial" panose="020B0604020202020204" pitchFamily="34" charset="0"/>
              <a:cs typeface="Arial" panose="020B0604020202020204" pitchFamily="34" charset="0"/>
            </a:endParaRPr>
          </a:p>
          <a:p>
            <a:pPr marL="0" indent="0">
              <a:lnSpc>
                <a:spcPct val="150000"/>
              </a:lnSpc>
              <a:buNone/>
            </a:pPr>
            <a:endParaRPr lang="en-IN" sz="1500" dirty="0">
              <a:latin typeface="Arial" panose="020B0604020202020204" pitchFamily="34" charset="0"/>
              <a:cs typeface="Arial" panose="020B0604020202020204" pitchFamily="34" charset="0"/>
            </a:endParaRPr>
          </a:p>
        </p:txBody>
      </p:sp>
      <p:sp>
        <p:nvSpPr>
          <p:cNvPr id="4" name="Rectangle 3"/>
          <p:cNvSpPr/>
          <p:nvPr/>
        </p:nvSpPr>
        <p:spPr>
          <a:xfrm>
            <a:off x="1489072" y="1426246"/>
            <a:ext cx="10349344" cy="3416320"/>
          </a:xfrm>
          <a:prstGeom prst="rect">
            <a:avLst/>
          </a:prstGeom>
        </p:spPr>
        <p:txBody>
          <a:bodyPr wrap="square">
            <a:spAutoFit/>
          </a:bodyPr>
          <a:lstStyle/>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Enhanced Security</a:t>
            </a:r>
            <a:r>
              <a:rPr lang="en-US" dirty="0">
                <a:latin typeface="Times New Roman" panose="02020603050405020304" pitchFamily="18" charset="0"/>
                <a:cs typeface="Times New Roman" panose="02020603050405020304" pitchFamily="18" charset="0"/>
              </a:rPr>
              <a:t>: By leveraging </a:t>
            </a:r>
            <a:r>
              <a:rPr lang="en-US" b="1" dirty="0" err="1">
                <a:latin typeface="Times New Roman" panose="02020603050405020304" pitchFamily="18" charset="0"/>
                <a:cs typeface="Times New Roman" panose="02020603050405020304" pitchFamily="18" charset="0"/>
              </a:rPr>
              <a:t>EdDSA</a:t>
            </a:r>
            <a:r>
              <a:rPr lang="en-US" b="1" dirty="0">
                <a:latin typeface="Times New Roman" panose="02020603050405020304" pitchFamily="18" charset="0"/>
                <a:cs typeface="Times New Roman" panose="02020603050405020304" pitchFamily="18" charset="0"/>
              </a:rPr>
              <a:t> (Edwards-Curve Digital Signature Algorithm)</a:t>
            </a:r>
            <a:r>
              <a:rPr lang="en-US" dirty="0">
                <a:latin typeface="Times New Roman" panose="02020603050405020304" pitchFamily="18" charset="0"/>
                <a:cs typeface="Times New Roman" panose="02020603050405020304" pitchFamily="18" charset="0"/>
              </a:rPr>
              <a:t>, the system offers robust cryptographic security, ensuring data integrity, authenticity, and confidentiality.</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Quantum Resistance</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EdDSA</a:t>
            </a:r>
            <a:r>
              <a:rPr lang="en-US" dirty="0">
                <a:latin typeface="Times New Roman" panose="02020603050405020304" pitchFamily="18" charset="0"/>
                <a:cs typeface="Times New Roman" panose="02020603050405020304" pitchFamily="18" charset="0"/>
              </a:rPr>
              <a:t> is more resistant to quantum computing threats compared to traditional algorithms like RSA and ECDSA, making the system future-proof.</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Faster Performance</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EdDSA</a:t>
            </a:r>
            <a:r>
              <a:rPr lang="en-US" dirty="0">
                <a:latin typeface="Times New Roman" panose="02020603050405020304" pitchFamily="18" charset="0"/>
                <a:cs typeface="Times New Roman" panose="02020603050405020304" pitchFamily="18" charset="0"/>
              </a:rPr>
              <a:t> provides faster signature generation and verification than older algorithms, enhancing system efficiency.</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Smaller Key Sizes</a:t>
            </a:r>
            <a:r>
              <a:rPr lang="en-US" dirty="0">
                <a:latin typeface="Times New Roman" panose="02020603050405020304" pitchFamily="18" charset="0"/>
                <a:cs typeface="Times New Roman" panose="02020603050405020304" pitchFamily="18" charset="0"/>
              </a:rPr>
              <a:t>: The use of elliptic curve cryptography ensures smaller key sizes for the same level of security, improving computational efficiency.</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Non-Repudiation</a:t>
            </a:r>
            <a:r>
              <a:rPr lang="en-US" dirty="0">
                <a:latin typeface="Times New Roman" panose="02020603050405020304" pitchFamily="18" charset="0"/>
                <a:cs typeface="Times New Roman" panose="02020603050405020304" pitchFamily="18" charset="0"/>
              </a:rPr>
              <a:t>: The system ensures that once data is uploaded and signed, it cannot be tampered with or denied by the sender, ensuring trust in the data.</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The system is designed to efficiently handle large volumes of data and users, making it suitable for growing cloud storage needs.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907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262437" y="143658"/>
            <a:ext cx="3116559" cy="523220"/>
          </a:xfrm>
          <a:prstGeom prst="rect">
            <a:avLst/>
          </a:prstGeom>
        </p:spPr>
        <p:txBody>
          <a:bodyPr wrap="none">
            <a:spAutoFit/>
          </a:bodyPr>
          <a:lstStyle/>
          <a:p>
            <a:pPr algn="ctr"/>
            <a:r>
              <a:rPr lang="en-US" sz="2800" b="1" dirty="0">
                <a:latin typeface="Times New Roman" panose="02020603050405020304" pitchFamily="18" charset="0"/>
                <a:cs typeface="Times New Roman" panose="02020603050405020304" pitchFamily="18" charset="0"/>
              </a:rPr>
              <a:t>ARCHITECTURE</a:t>
            </a:r>
            <a:endParaRPr lang="en-US" b="1" dirty="0"/>
          </a:p>
        </p:txBody>
      </p:sp>
      <p:pic>
        <p:nvPicPr>
          <p:cNvPr id="4" name="Picture 3">
            <a:extLst>
              <a:ext uri="{FF2B5EF4-FFF2-40B4-BE49-F238E27FC236}">
                <a16:creationId xmlns:a16="http://schemas.microsoft.com/office/drawing/2014/main" id="{5B01C9F3-0ACB-5A47-E93E-F608F8B775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2162" y="2214562"/>
            <a:ext cx="8067675" cy="2428875"/>
          </a:xfrm>
          <a:prstGeom prst="rect">
            <a:avLst/>
          </a:prstGeom>
        </p:spPr>
      </p:pic>
    </p:spTree>
    <p:extLst>
      <p:ext uri="{BB962C8B-B14F-4D97-AF65-F5344CB8AC3E}">
        <p14:creationId xmlns:p14="http://schemas.microsoft.com/office/powerpoint/2010/main" val="241556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685" y="520731"/>
            <a:ext cx="10018713" cy="490650"/>
          </a:xfrm>
        </p:spPr>
        <p:txBody>
          <a:bodyPr>
            <a:normAutofit fontScale="90000"/>
          </a:bodyPr>
          <a:lstStyle/>
          <a:p>
            <a:pPr algn="ctr"/>
            <a:r>
              <a:rPr lang="en-US" sz="3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Implementation:</a:t>
            </a:r>
            <a:br>
              <a:rPr lang="en-US" sz="3200" dirty="0">
                <a:solidFill>
                  <a:schemeClr val="tx1"/>
                </a:solidFill>
                <a:latin typeface="Calibri" panose="020F0502020204030204" pitchFamily="34" charset="0"/>
                <a:ea typeface="Calibri" panose="020F0502020204030204" pitchFamily="34" charset="0"/>
                <a:cs typeface="Times New Roman" panose="02020603050405020304" pitchFamily="18" charset="0"/>
              </a:rPr>
            </a:br>
            <a:endParaRPr lang="en-IN" sz="3200" dirty="0">
              <a:solidFill>
                <a:schemeClr val="tx1"/>
              </a:solidFill>
            </a:endParaRPr>
          </a:p>
        </p:txBody>
      </p:sp>
      <p:sp>
        <p:nvSpPr>
          <p:cNvPr id="4" name="Content Placeholder 3"/>
          <p:cNvSpPr>
            <a:spLocks noGrp="1"/>
          </p:cNvSpPr>
          <p:nvPr>
            <p:ph idx="1"/>
          </p:nvPr>
        </p:nvSpPr>
        <p:spPr>
          <a:xfrm>
            <a:off x="1812203" y="1297131"/>
            <a:ext cx="10155382" cy="5389419"/>
          </a:xfrm>
        </p:spPr>
        <p:txBody>
          <a:bodyPr>
            <a:noAutofit/>
          </a:bodyPr>
          <a:lstStyle/>
          <a:p>
            <a:r>
              <a:rPr lang="en-IN" sz="1800" b="1" dirty="0">
                <a:latin typeface="Times New Roman" panose="02020603050405020304" pitchFamily="18" charset="0"/>
                <a:cs typeface="Times New Roman" panose="02020603050405020304" pitchFamily="18" charset="0"/>
              </a:rPr>
              <a:t>1. User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The initial entry point of the system where the user accesses the application.</a:t>
            </a:r>
          </a:p>
          <a:p>
            <a:r>
              <a:rPr lang="en-IN" sz="1800" b="1" dirty="0">
                <a:latin typeface="Times New Roman" panose="02020603050405020304" pitchFamily="18" charset="0"/>
                <a:cs typeface="Times New Roman" panose="02020603050405020304" pitchFamily="18" charset="0"/>
              </a:rPr>
              <a:t>2. Register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Allows the user to create a new account by providing necessary details (e.g., username, email, password). This module stores user data in the system's database.</a:t>
            </a:r>
          </a:p>
          <a:p>
            <a:r>
              <a:rPr lang="en-IN" sz="1800" b="1" dirty="0">
                <a:latin typeface="Times New Roman" panose="02020603050405020304" pitchFamily="18" charset="0"/>
                <a:cs typeface="Times New Roman" panose="02020603050405020304" pitchFamily="18" charset="0"/>
              </a:rPr>
              <a:t>3. Login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Authenticates users using their registered credentials (username/email and password). After successful authentication, the user is granted access to the system.</a:t>
            </a:r>
          </a:p>
          <a:p>
            <a:r>
              <a:rPr lang="en-IN" sz="1800" b="1" dirty="0">
                <a:latin typeface="Times New Roman" panose="02020603050405020304" pitchFamily="18" charset="0"/>
                <a:cs typeface="Times New Roman" panose="02020603050405020304" pitchFamily="18" charset="0"/>
              </a:rPr>
              <a:t>4. Upload Files on Cloud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Enables users to upload various types of files (documents, images, videos, music, etc.) to the cloud storage. The files are securely stored after being signed using Heisenberg group-based digital signatures for security.</a:t>
            </a:r>
          </a:p>
          <a:p>
            <a:r>
              <a:rPr lang="en-IN" sz="1800" b="1" dirty="0">
                <a:latin typeface="Times New Roman" panose="02020603050405020304" pitchFamily="18" charset="0"/>
                <a:cs typeface="Times New Roman" panose="02020603050405020304" pitchFamily="18" charset="0"/>
              </a:rPr>
              <a:t>5. Signature Verification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After uploading files, this module verifies the Heisenberg group-based digital signature to ensure the integrity and authenticity of the uploaded files. It checks whether the file has been tampered with during the upload process.</a:t>
            </a:r>
          </a:p>
        </p:txBody>
      </p:sp>
    </p:spTree>
    <p:extLst>
      <p:ext uri="{BB962C8B-B14F-4D97-AF65-F5344CB8AC3E}">
        <p14:creationId xmlns:p14="http://schemas.microsoft.com/office/powerpoint/2010/main" val="69603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15492" y="394853"/>
            <a:ext cx="8285018" cy="5936674"/>
          </a:xfrm>
        </p:spPr>
        <p:txBody>
          <a:bodyPr>
            <a:normAutofit/>
          </a:bodyPr>
          <a:lstStyle/>
          <a:p>
            <a:pPr marL="0" indent="0">
              <a:buNone/>
            </a:pPr>
            <a:r>
              <a:rPr lang="en-US" sz="1500" dirty="0">
                <a:latin typeface="Arial" panose="020B0604020202020204" pitchFamily="34" charset="0"/>
                <a:cs typeface="Arial" panose="020B0604020202020204" pitchFamily="34" charset="0"/>
              </a:rPr>
              <a:t> </a:t>
            </a:r>
            <a:endParaRPr lang="en-IN" sz="1500" dirty="0">
              <a:latin typeface="Arial" panose="020B0604020202020204" pitchFamily="34" charset="0"/>
              <a:cs typeface="Arial" panose="020B0604020202020204" pitchFamily="34" charset="0"/>
            </a:endParaRPr>
          </a:p>
        </p:txBody>
      </p:sp>
      <p:sp>
        <p:nvSpPr>
          <p:cNvPr id="4" name="Rectangle 3"/>
          <p:cNvSpPr/>
          <p:nvPr/>
        </p:nvSpPr>
        <p:spPr>
          <a:xfrm>
            <a:off x="1607128" y="1242612"/>
            <a:ext cx="10501745" cy="2585323"/>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6. View Files Module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Functionality: </a:t>
            </a:r>
            <a:r>
              <a:rPr lang="en-IN" dirty="0">
                <a:latin typeface="Times New Roman" panose="02020603050405020304" pitchFamily="18" charset="0"/>
                <a:cs typeface="Times New Roman" panose="02020603050405020304" pitchFamily="18" charset="0"/>
              </a:rPr>
              <a:t>Allows users to view the list of files that have been uploaded to the cloud. This module provides a user interface to view file metadata or contents (depending on the file type).</a:t>
            </a:r>
          </a:p>
          <a:p>
            <a:r>
              <a:rPr lang="en-IN" b="1" dirty="0">
                <a:latin typeface="Times New Roman" panose="02020603050405020304" pitchFamily="18" charset="0"/>
                <a:cs typeface="Times New Roman" panose="02020603050405020304" pitchFamily="18" charset="0"/>
              </a:rPr>
              <a:t>7. Download Files from Cloud Module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Functionality: </a:t>
            </a:r>
            <a:r>
              <a:rPr lang="en-IN" dirty="0">
                <a:latin typeface="Times New Roman" panose="02020603050405020304" pitchFamily="18" charset="0"/>
                <a:cs typeface="Times New Roman" panose="02020603050405020304" pitchFamily="18" charset="0"/>
              </a:rPr>
              <a:t>Allows users to download files from the cloud after verifying their authenticity and integrity through digital signatures. This module ensures that the downloaded files are the same as the uploaded ones.</a:t>
            </a:r>
          </a:p>
          <a:p>
            <a:r>
              <a:rPr lang="en-IN" b="1" dirty="0">
                <a:latin typeface="Times New Roman" panose="02020603050405020304" pitchFamily="18" charset="0"/>
                <a:cs typeface="Times New Roman" panose="02020603050405020304" pitchFamily="18" charset="0"/>
              </a:rPr>
              <a:t>8. Logout Module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Functionality: </a:t>
            </a:r>
            <a:r>
              <a:rPr lang="en-IN" dirty="0">
                <a:latin typeface="Times New Roman" panose="02020603050405020304" pitchFamily="18" charset="0"/>
                <a:cs typeface="Times New Roman" panose="02020603050405020304" pitchFamily="18" charset="0"/>
              </a:rPr>
              <a:t>Ends the user session and securely logs the user out of the system, ensuring that no unauthorized access occurs after the session ends.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096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221377"/>
          </a:xfrm>
        </p:spPr>
        <p:txBody>
          <a:bodyPr>
            <a:normAutofit/>
          </a:bodyPr>
          <a:lstStyle/>
          <a:p>
            <a:r>
              <a:rPr lang="en-US" sz="2800" b="1" dirty="0">
                <a:solidFill>
                  <a:srgbClr val="000000"/>
                </a:solidFill>
                <a:latin typeface="Arial" panose="020B0604020202020204" pitchFamily="34" charset="0"/>
                <a:ea typeface="Calibri" panose="020F0502020204030204" pitchFamily="34" charset="0"/>
                <a:cs typeface="Arial" panose="020B0604020202020204" pitchFamily="34" charset="0"/>
              </a:rPr>
              <a:t>HARDWARE AND SOFTWARE REQUIREMENTS</a:t>
            </a:r>
            <a:br>
              <a:rPr lang="en-IN" sz="2800" dirty="0">
                <a:latin typeface="Arial" panose="020B0604020202020204" pitchFamily="34" charset="0"/>
                <a:ea typeface="Times New Roman" panose="02020603050405020304" pitchFamily="18"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sp>
        <p:nvSpPr>
          <p:cNvPr id="5" name="Rectangle 4"/>
          <p:cNvSpPr/>
          <p:nvPr/>
        </p:nvSpPr>
        <p:spPr>
          <a:xfrm>
            <a:off x="2042160" y="2201954"/>
            <a:ext cx="6096000" cy="3462486"/>
          </a:xfrm>
          <a:prstGeom prst="rect">
            <a:avLst/>
          </a:prstGeom>
        </p:spPr>
        <p:txBody>
          <a:bodyPr>
            <a:spAutoFit/>
          </a:bodyPr>
          <a:lstStyle/>
          <a:p>
            <a:pPr lvl="1" algn="just" fontAlgn="base">
              <a:lnSpc>
                <a:spcPct val="150000"/>
              </a:lnSpc>
            </a:pPr>
            <a:r>
              <a:rPr lang="en-US" b="1"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Processor		- I3/Intel Processor</a:t>
            </a:r>
          </a:p>
          <a:p>
            <a:pPr algn="just">
              <a:lnSpc>
                <a:spcPct val="150000"/>
              </a:lnSpc>
            </a:pPr>
            <a:r>
              <a:rPr lang="en-IN" dirty="0">
                <a:latin typeface="Times New Roman" panose="02020603050405020304" pitchFamily="18" charset="0"/>
                <a:cs typeface="Times New Roman" panose="02020603050405020304" pitchFamily="18" charset="0"/>
              </a:rPr>
              <a:t>Hard Disk		- 160GB</a:t>
            </a:r>
          </a:p>
          <a:p>
            <a:pPr algn="just">
              <a:lnSpc>
                <a:spcPct val="150000"/>
              </a:lnSpc>
            </a:pPr>
            <a:r>
              <a:rPr lang="en-IN"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IN"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IN" dirty="0">
                <a:latin typeface="Times New Roman" panose="02020603050405020304" pitchFamily="18" charset="0"/>
                <a:cs typeface="Times New Roman" panose="02020603050405020304" pitchFamily="18" charset="0"/>
              </a:rPr>
              <a:t>Monitor			- SVGA</a:t>
            </a:r>
          </a:p>
          <a:p>
            <a:pPr algn="just">
              <a:lnSpc>
                <a:spcPct val="150000"/>
              </a:lnSpc>
            </a:pPr>
            <a:r>
              <a:rPr lang="en-IN" dirty="0">
                <a:latin typeface="Times New Roman" panose="02020603050405020304" pitchFamily="18" charset="0"/>
                <a:cs typeface="Times New Roman" panose="02020603050405020304" pitchFamily="18" charset="0"/>
              </a:rPr>
              <a:t>RAM			- 8GB</a:t>
            </a:r>
          </a:p>
          <a:p>
            <a:pPr algn="just">
              <a:lnSpc>
                <a:spcPct val="150000"/>
              </a:lnSpc>
              <a:spcAft>
                <a:spcPts val="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6356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842554"/>
          </a:xfrm>
        </p:spPr>
        <p:txBody>
          <a:bodyPr>
            <a:normAutofit/>
          </a:bodyPr>
          <a:lstStyle/>
          <a:p>
            <a:r>
              <a:rPr lang="en-US" sz="2800" b="1" dirty="0">
                <a:solidFill>
                  <a:schemeClr val="tx1"/>
                </a:solidFill>
                <a:latin typeface="Arial" panose="020B0604020202020204" pitchFamily="34" charset="0"/>
                <a:cs typeface="Arial" panose="020B0604020202020204" pitchFamily="34" charset="0"/>
              </a:rPr>
              <a:t>SOFTWARE</a:t>
            </a:r>
            <a:r>
              <a:rPr lang="en-US" sz="3200" b="1" dirty="0">
                <a:latin typeface="Arial" panose="020B0604020202020204" pitchFamily="34" charset="0"/>
                <a:cs typeface="Arial" panose="020B0604020202020204" pitchFamily="34" charset="0"/>
              </a:rPr>
              <a:t> SYSTEM CONFIGURATION</a:t>
            </a:r>
            <a:endParaRPr lang="en-IN" sz="32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84311" y="1909353"/>
            <a:ext cx="10018713" cy="3124201"/>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Operating System		:  Windows 7/8/10</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Server side Script		:  HTML, CSS, Bootstrap &amp; JS</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Programming Language :  Python</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Libraries			        :  Django</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Technology		       	:  Python 3.6+</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Database			        : SQLITE</a:t>
            </a:r>
            <a:endParaRPr lang="en-IN" sz="2000" dirty="0">
              <a:solidFill>
                <a:schemeClr val="tx1"/>
              </a:solidFill>
              <a:latin typeface="Times New Roman" panose="02020603050405020304" pitchFamily="18"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3253761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178" y="454230"/>
            <a:ext cx="10018713" cy="633549"/>
          </a:xfrm>
        </p:spPr>
        <p:txBody>
          <a:bodyPr>
            <a:normAutofit fontScale="90000"/>
          </a:bodyPr>
          <a:lstStyle/>
          <a:p>
            <a:r>
              <a:rPr lang="en-US" sz="3100" b="1" dirty="0">
                <a:solidFill>
                  <a:schemeClr val="tx1"/>
                </a:solidFill>
                <a:latin typeface="Arial" panose="020B0604020202020204" pitchFamily="34" charset="0"/>
                <a:ea typeface="Times New Roman" panose="02020603050405020304" pitchFamily="18" charset="0"/>
                <a:cs typeface="Arial" panose="020B0604020202020204" pitchFamily="34" charset="0"/>
              </a:rPr>
              <a:t>UML Diagrams</a:t>
            </a:r>
            <a:br>
              <a:rPr lang="en-IN" sz="3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endParaRPr lang="en-IN" sz="3200" dirty="0">
              <a:solidFill>
                <a:schemeClr val="tx1"/>
              </a:solidFill>
            </a:endParaRPr>
          </a:p>
        </p:txBody>
      </p:sp>
      <p:sp>
        <p:nvSpPr>
          <p:cNvPr id="3" name="Content Placeholder 2"/>
          <p:cNvSpPr>
            <a:spLocks noGrp="1"/>
          </p:cNvSpPr>
          <p:nvPr>
            <p:ph idx="1"/>
          </p:nvPr>
        </p:nvSpPr>
        <p:spPr>
          <a:xfrm>
            <a:off x="1148576" y="953587"/>
            <a:ext cx="9975863" cy="2425234"/>
          </a:xfrm>
        </p:spPr>
        <p:txBody>
          <a:bodyPr>
            <a:normAutofit/>
          </a:bodyPr>
          <a:lstStyle/>
          <a:p>
            <a:pPr algn="just"/>
            <a:r>
              <a:rPr lang="en-US" sz="2000" dirty="0">
                <a:latin typeface="Times New Roman" panose="02020603050405020304" pitchFamily="18" charset="0"/>
                <a:cs typeface="Times New Roman" panose="02020603050405020304" pitchFamily="18" charset="0"/>
              </a:rPr>
              <a:t>The Use Case Diagram for the "Code-Geeks Online Learning Platform" involves two primary actors: </a:t>
            </a:r>
            <a:r>
              <a:rPr lang="en-US" sz="2000" b="1" dirty="0">
                <a:latin typeface="Times New Roman" panose="02020603050405020304" pitchFamily="18" charset="0"/>
                <a:cs typeface="Times New Roman" panose="02020603050405020304" pitchFamily="18" charset="0"/>
              </a:rPr>
              <a:t>Learners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Instructors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Learners</a:t>
            </a:r>
            <a:r>
              <a:rPr lang="en-US" sz="2000" dirty="0">
                <a:latin typeface="Times New Roman" panose="02020603050405020304" pitchFamily="18" charset="0"/>
                <a:cs typeface="Times New Roman" panose="02020603050405020304" pitchFamily="18" charset="0"/>
              </a:rPr>
              <a:t> can perform various actions such as registering for an account, logging in, enrolling in courses, and browsing available course content. Once enrolled, they can track their progress, participate in coding challenges, submit assignments, and receive real-time feedback from instructors. Learners can also view and download their certificates upon course completion. Additionally, they can interact with instructors and peers through discussion forums or messaging systems.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1EAD324-4E79-7FE6-8813-184BA6E233FB}"/>
              </a:ext>
            </a:extLst>
          </p:cNvPr>
          <p:cNvPicPr>
            <a:picLocks noChangeAspect="1"/>
          </p:cNvPicPr>
          <p:nvPr/>
        </p:nvPicPr>
        <p:blipFill>
          <a:blip r:embed="rId2"/>
          <a:stretch>
            <a:fillRect/>
          </a:stretch>
        </p:blipFill>
        <p:spPr>
          <a:xfrm>
            <a:off x="4752976" y="3307859"/>
            <a:ext cx="3005138" cy="3550141"/>
          </a:xfrm>
          <a:prstGeom prst="rect">
            <a:avLst/>
          </a:prstGeom>
        </p:spPr>
      </p:pic>
    </p:spTree>
    <p:extLst>
      <p:ext uri="{BB962C8B-B14F-4D97-AF65-F5344CB8AC3E}">
        <p14:creationId xmlns:p14="http://schemas.microsoft.com/office/powerpoint/2010/main" val="1199927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5751" y="150223"/>
            <a:ext cx="10018713" cy="855617"/>
          </a:xfrm>
        </p:spPr>
        <p:txBody>
          <a:bodyPr>
            <a:noAutofit/>
          </a:bodyPr>
          <a:lstStyle/>
          <a:p>
            <a:r>
              <a:rPr lang="en-US" sz="2800" b="1" dirty="0">
                <a:latin typeface="Arial" panose="020B0604020202020204" pitchFamily="34" charset="0"/>
                <a:ea typeface="Times New Roman" panose="02020603050405020304" pitchFamily="18" charset="0"/>
                <a:cs typeface="Arial" panose="020B0604020202020204" pitchFamily="34" charset="0"/>
              </a:rPr>
              <a:t>UML Diagrams</a:t>
            </a:r>
            <a:br>
              <a:rPr lang="en-IN" sz="2800" dirty="0">
                <a:latin typeface="Arial" panose="020B0604020202020204" pitchFamily="34" charset="0"/>
                <a:ea typeface="Times New Roman" panose="02020603050405020304" pitchFamily="18"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575751" y="1136470"/>
            <a:ext cx="10018713" cy="1737360"/>
          </a:xfrm>
        </p:spPr>
        <p:txBody>
          <a:bodyPr>
            <a:normAutofit fontScale="70000" lnSpcReduction="20000"/>
          </a:bodyPr>
          <a:lstStyle/>
          <a:p>
            <a:pPr marL="0" indent="0">
              <a:buNone/>
            </a:pPr>
            <a:r>
              <a:rPr lang="en-IN" b="1" dirty="0">
                <a:latin typeface="Times New Roman" panose="02020603050405020304" pitchFamily="18" charset="0"/>
                <a:cs typeface="Times New Roman" panose="02020603050405020304" pitchFamily="18" charset="0"/>
              </a:rPr>
              <a:t>Class Diagram: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UML Class Diagram</a:t>
            </a:r>
            <a:r>
              <a:rPr lang="en-IN" dirty="0">
                <a:latin typeface="Times New Roman" panose="02020603050405020304" pitchFamily="18" charset="0"/>
                <a:cs typeface="Times New Roman" panose="02020603050405020304" pitchFamily="18" charset="0"/>
              </a:rPr>
              <a:t> for the </a:t>
            </a:r>
            <a:r>
              <a:rPr lang="en-IN" b="1" dirty="0">
                <a:latin typeface="Times New Roman" panose="02020603050405020304" pitchFamily="18" charset="0"/>
                <a:cs typeface="Times New Roman" panose="02020603050405020304" pitchFamily="18" charset="0"/>
              </a:rPr>
              <a:t>Code-Geeks Online Learning Platform</a:t>
            </a:r>
            <a:r>
              <a:rPr lang="en-IN" dirty="0">
                <a:latin typeface="Times New Roman" panose="02020603050405020304" pitchFamily="18" charset="0"/>
                <a:cs typeface="Times New Roman" panose="02020603050405020304" pitchFamily="18" charset="0"/>
              </a:rPr>
              <a:t> provides a detailed overview of the system's structure, focusing on key components such as </a:t>
            </a:r>
            <a:r>
              <a:rPr lang="en-IN" b="1" dirty="0">
                <a:latin typeface="Times New Roman" panose="02020603050405020304" pitchFamily="18" charset="0"/>
                <a:cs typeface="Times New Roman" panose="02020603050405020304" pitchFamily="18" charset="0"/>
              </a:rPr>
              <a:t>User</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Learner</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Instructor</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Course</a:t>
            </a:r>
            <a:r>
              <a:rPr lang="en-IN" dirty="0">
                <a:latin typeface="Times New Roman" panose="02020603050405020304" pitchFamily="18" charset="0"/>
                <a:cs typeface="Times New Roman" panose="02020603050405020304" pitchFamily="18" charset="0"/>
              </a:rPr>
              <a:t>. Each class in the diagram is represented by a box divided into three sections: the class name, attributes (data), and methods (functions or operations). The </a:t>
            </a:r>
            <a:r>
              <a:rPr lang="en-IN" b="1" dirty="0">
                <a:latin typeface="Times New Roman" panose="02020603050405020304" pitchFamily="18" charset="0"/>
                <a:cs typeface="Times New Roman" panose="02020603050405020304" pitchFamily="18" charset="0"/>
              </a:rPr>
              <a:t>User</a:t>
            </a:r>
            <a:r>
              <a:rPr lang="en-IN" dirty="0">
                <a:latin typeface="Times New Roman" panose="02020603050405020304" pitchFamily="18" charset="0"/>
                <a:cs typeface="Times New Roman" panose="02020603050405020304" pitchFamily="18" charset="0"/>
              </a:rPr>
              <a:t> class serves as the parent class, containing common attributes like </a:t>
            </a:r>
            <a:r>
              <a:rPr lang="en-IN" b="1" dirty="0" err="1">
                <a:latin typeface="Times New Roman" panose="02020603050405020304" pitchFamily="18" charset="0"/>
                <a:cs typeface="Times New Roman" panose="02020603050405020304" pitchFamily="18" charset="0"/>
              </a:rPr>
              <a:t>userID</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email</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password</a:t>
            </a:r>
            <a:r>
              <a:rPr lang="en-IN" dirty="0">
                <a:latin typeface="Times New Roman" panose="02020603050405020304" pitchFamily="18" charset="0"/>
                <a:cs typeface="Times New Roman" panose="02020603050405020304" pitchFamily="18" charset="0"/>
              </a:rPr>
              <a:t>, which are inherited by both the </a:t>
            </a:r>
            <a:r>
              <a:rPr lang="en-IN" b="1" dirty="0">
                <a:latin typeface="Times New Roman" panose="02020603050405020304" pitchFamily="18" charset="0"/>
                <a:cs typeface="Times New Roman" panose="02020603050405020304" pitchFamily="18" charset="0"/>
              </a:rPr>
              <a:t>Learner</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Instructor</a:t>
            </a:r>
            <a:r>
              <a:rPr lang="en-IN" dirty="0">
                <a:latin typeface="Times New Roman" panose="02020603050405020304" pitchFamily="18" charset="0"/>
                <a:cs typeface="Times New Roman" panose="02020603050405020304" pitchFamily="18" charset="0"/>
              </a:rPr>
              <a:t> classes.</a:t>
            </a:r>
          </a:p>
        </p:txBody>
      </p:sp>
      <p:pic>
        <p:nvPicPr>
          <p:cNvPr id="5" name="Picture 4">
            <a:extLst>
              <a:ext uri="{FF2B5EF4-FFF2-40B4-BE49-F238E27FC236}">
                <a16:creationId xmlns:a16="http://schemas.microsoft.com/office/drawing/2014/main" id="{5E9F3F5E-3F57-ECEF-93BC-BD5A03B5CECE}"/>
              </a:ext>
            </a:extLst>
          </p:cNvPr>
          <p:cNvPicPr>
            <a:picLocks noChangeAspect="1"/>
          </p:cNvPicPr>
          <p:nvPr/>
        </p:nvPicPr>
        <p:blipFill>
          <a:blip r:embed="rId2"/>
          <a:stretch>
            <a:fillRect/>
          </a:stretch>
        </p:blipFill>
        <p:spPr>
          <a:xfrm>
            <a:off x="4729162" y="2873830"/>
            <a:ext cx="2219325" cy="3324225"/>
          </a:xfrm>
          <a:prstGeom prst="rect">
            <a:avLst/>
          </a:prstGeom>
        </p:spPr>
      </p:pic>
    </p:spTree>
    <p:extLst>
      <p:ext uri="{BB962C8B-B14F-4D97-AF65-F5344CB8AC3E}">
        <p14:creationId xmlns:p14="http://schemas.microsoft.com/office/powerpoint/2010/main" val="3878952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6132017" y="210919"/>
            <a:ext cx="6371821" cy="938656"/>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700" b="1" dirty="0">
                <a:latin typeface="Times New Roman" panose="02020603050405020304" pitchFamily="18" charset="0"/>
                <a:cs typeface="Times New Roman" panose="02020603050405020304" pitchFamily="18" charset="0"/>
              </a:rPr>
              <a:t>UML DIAGRAMS</a:t>
            </a:r>
          </a:p>
        </p:txBody>
      </p:sp>
      <p:sp>
        <p:nvSpPr>
          <p:cNvPr id="3" name="TextBox 2"/>
          <p:cNvSpPr txBox="1"/>
          <p:nvPr/>
        </p:nvSpPr>
        <p:spPr>
          <a:xfrm>
            <a:off x="7523018" y="837854"/>
            <a:ext cx="4446913" cy="5909310"/>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Sequence Diagram</a:t>
            </a:r>
            <a:r>
              <a:rPr lang="en-US" dirty="0">
                <a:latin typeface="Times New Roman" panose="02020603050405020304" pitchFamily="18" charset="0"/>
                <a:cs typeface="Times New Roman" panose="02020603050405020304" pitchFamily="18" charset="0"/>
              </a:rPr>
              <a:t> for the </a:t>
            </a:r>
            <a:r>
              <a:rPr lang="en-US" b="1" dirty="0">
                <a:latin typeface="Times New Roman" panose="02020603050405020304" pitchFamily="18" charset="0"/>
                <a:cs typeface="Times New Roman" panose="02020603050405020304" pitchFamily="18" charset="0"/>
              </a:rPr>
              <a:t>Code-Geeks Online Learning Platform</a:t>
            </a:r>
            <a:r>
              <a:rPr lang="en-US" dirty="0">
                <a:latin typeface="Times New Roman" panose="02020603050405020304" pitchFamily="18" charset="0"/>
                <a:cs typeface="Times New Roman" panose="02020603050405020304" pitchFamily="18" charset="0"/>
              </a:rPr>
              <a:t> illustrates the interaction between various system components over time, showcasing how users (learners and instructors) and the system collaborate to perform tasks. The diagram begins with the </a:t>
            </a:r>
            <a:r>
              <a:rPr lang="en-US" b="1" dirty="0">
                <a:latin typeface="Times New Roman" panose="02020603050405020304" pitchFamily="18" charset="0"/>
                <a:cs typeface="Times New Roman" panose="02020603050405020304" pitchFamily="18" charset="0"/>
              </a:rPr>
              <a:t>Learner</a:t>
            </a:r>
            <a:r>
              <a:rPr lang="en-US" dirty="0">
                <a:latin typeface="Times New Roman" panose="02020603050405020304" pitchFamily="18" charset="0"/>
                <a:cs typeface="Times New Roman" panose="02020603050405020304" pitchFamily="18" charset="0"/>
              </a:rPr>
              <a:t> initiating a login request by providing valid credentials to the system. The </a:t>
            </a:r>
            <a:r>
              <a:rPr lang="en-US" b="1" dirty="0">
                <a:latin typeface="Times New Roman" panose="02020603050405020304" pitchFamily="18" charset="0"/>
                <a:cs typeface="Times New Roman" panose="02020603050405020304" pitchFamily="18" charset="0"/>
              </a:rPr>
              <a:t>System</a:t>
            </a:r>
            <a:r>
              <a:rPr lang="en-US" dirty="0">
                <a:latin typeface="Times New Roman" panose="02020603050405020304" pitchFamily="18" charset="0"/>
                <a:cs typeface="Times New Roman" panose="02020603050405020304" pitchFamily="18" charset="0"/>
              </a:rPr>
              <a:t> verifies the credentials by interacting with the </a:t>
            </a: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to check the learner’s details. If the credentials are valid, the learner gains access to their personalized dashboard, which displays available courses, progress tracking, and course.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6010DC4-FC19-7331-9120-741EB084D91D}"/>
              </a:ext>
            </a:extLst>
          </p:cNvPr>
          <p:cNvPicPr>
            <a:picLocks noChangeAspect="1"/>
          </p:cNvPicPr>
          <p:nvPr/>
        </p:nvPicPr>
        <p:blipFill>
          <a:blip r:embed="rId2"/>
          <a:stretch>
            <a:fillRect/>
          </a:stretch>
        </p:blipFill>
        <p:spPr>
          <a:xfrm>
            <a:off x="1776094" y="1491904"/>
            <a:ext cx="5410835" cy="4601210"/>
          </a:xfrm>
          <a:prstGeom prst="rect">
            <a:avLst/>
          </a:prstGeom>
        </p:spPr>
      </p:pic>
    </p:spTree>
    <p:extLst>
      <p:ext uri="{BB962C8B-B14F-4D97-AF65-F5344CB8AC3E}">
        <p14:creationId xmlns:p14="http://schemas.microsoft.com/office/powerpoint/2010/main" val="2202582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6132017" y="210919"/>
            <a:ext cx="6371821" cy="938656"/>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700" b="1" dirty="0">
                <a:latin typeface="Times New Roman" panose="02020603050405020304" pitchFamily="18" charset="0"/>
                <a:cs typeface="Times New Roman" panose="02020603050405020304" pitchFamily="18" charset="0"/>
              </a:rPr>
              <a:t>UML DIAGRAMS</a:t>
            </a:r>
          </a:p>
        </p:txBody>
      </p:sp>
      <p:sp>
        <p:nvSpPr>
          <p:cNvPr id="3" name="TextBox 2"/>
          <p:cNvSpPr txBox="1"/>
          <p:nvPr/>
        </p:nvSpPr>
        <p:spPr>
          <a:xfrm>
            <a:off x="7495309" y="1890584"/>
            <a:ext cx="4308367" cy="378565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Collaboration Diagram</a:t>
            </a:r>
            <a:r>
              <a:rPr lang="en-US" sz="2000" dirty="0">
                <a:latin typeface="Times New Roman" panose="02020603050405020304" pitchFamily="18" charset="0"/>
                <a:cs typeface="Times New Roman" panose="02020603050405020304" pitchFamily="18" charset="0"/>
              </a:rPr>
              <a:t> for the </a:t>
            </a:r>
            <a:r>
              <a:rPr lang="en-US" sz="2000" b="1" dirty="0">
                <a:latin typeface="Times New Roman" panose="02020603050405020304" pitchFamily="18" charset="0"/>
                <a:cs typeface="Times New Roman" panose="02020603050405020304" pitchFamily="18" charset="0"/>
              </a:rPr>
              <a:t>Code-Geeks Online Learning Platform</a:t>
            </a:r>
            <a:r>
              <a:rPr lang="en-US" sz="2000" dirty="0">
                <a:latin typeface="Times New Roman" panose="02020603050405020304" pitchFamily="18" charset="0"/>
                <a:cs typeface="Times New Roman" panose="02020603050405020304" pitchFamily="18" charset="0"/>
              </a:rPr>
              <a:t> describes the interactions between the various system components (objects) to achieve specific tasks, emphasizing how these objects collaborate to complete a function. In this platform, the </a:t>
            </a:r>
            <a:r>
              <a:rPr lang="en-US" sz="2000" b="1" dirty="0">
                <a:latin typeface="Times New Roman" panose="02020603050405020304" pitchFamily="18" charset="0"/>
                <a:cs typeface="Times New Roman" panose="02020603050405020304" pitchFamily="18" charset="0"/>
              </a:rPr>
              <a:t>Learner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Instructor</a:t>
            </a:r>
            <a:r>
              <a:rPr lang="en-US" sz="2000" dirty="0">
                <a:latin typeface="Times New Roman" panose="02020603050405020304" pitchFamily="18" charset="0"/>
                <a:cs typeface="Times New Roman" panose="02020603050405020304" pitchFamily="18" charset="0"/>
              </a:rPr>
              <a:t> are the primary actors, while the </a:t>
            </a:r>
            <a:r>
              <a:rPr lang="en-US" sz="2000" b="1" dirty="0">
                <a:latin typeface="Times New Roman" panose="02020603050405020304" pitchFamily="18" charset="0"/>
                <a:cs typeface="Times New Roman" panose="02020603050405020304" pitchFamily="18" charset="0"/>
              </a:rPr>
              <a:t>System</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Database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Course</a:t>
            </a:r>
            <a:r>
              <a:rPr lang="en-US" sz="2000" dirty="0">
                <a:latin typeface="Times New Roman" panose="02020603050405020304" pitchFamily="18" charset="0"/>
                <a:cs typeface="Times New Roman" panose="02020603050405020304" pitchFamily="18" charset="0"/>
              </a:rPr>
              <a:t> objects play crucial roles in facilitating these interactions.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62A53E6-DAFB-7F59-30CD-EA3D782BFE8D}"/>
              </a:ext>
            </a:extLst>
          </p:cNvPr>
          <p:cNvPicPr>
            <a:picLocks noChangeAspect="1"/>
          </p:cNvPicPr>
          <p:nvPr/>
        </p:nvPicPr>
        <p:blipFill>
          <a:blip r:embed="rId2"/>
          <a:stretch>
            <a:fillRect/>
          </a:stretch>
        </p:blipFill>
        <p:spPr>
          <a:xfrm>
            <a:off x="2515467" y="2578497"/>
            <a:ext cx="4362450" cy="2409825"/>
          </a:xfrm>
          <a:prstGeom prst="rect">
            <a:avLst/>
          </a:prstGeom>
        </p:spPr>
      </p:pic>
    </p:spTree>
    <p:extLst>
      <p:ext uri="{BB962C8B-B14F-4D97-AF65-F5344CB8AC3E}">
        <p14:creationId xmlns:p14="http://schemas.microsoft.com/office/powerpoint/2010/main" val="1630116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6132017" y="210919"/>
            <a:ext cx="6371821" cy="938656"/>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700" b="1" dirty="0">
                <a:latin typeface="Times New Roman" panose="02020603050405020304" pitchFamily="18" charset="0"/>
                <a:cs typeface="Times New Roman" panose="02020603050405020304" pitchFamily="18" charset="0"/>
              </a:rPr>
              <a:t>UML DIAGRAMS</a:t>
            </a:r>
          </a:p>
        </p:txBody>
      </p:sp>
      <p:sp>
        <p:nvSpPr>
          <p:cNvPr id="3" name="TextBox 2"/>
          <p:cNvSpPr txBox="1"/>
          <p:nvPr/>
        </p:nvSpPr>
        <p:spPr>
          <a:xfrm>
            <a:off x="7646231" y="1038359"/>
            <a:ext cx="4297680" cy="559281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Deployment Diagram</a:t>
            </a:r>
            <a:r>
              <a:rPr lang="en-IN" sz="1600" dirty="0">
                <a:latin typeface="Times New Roman" panose="02020603050405020304" pitchFamily="18" charset="0"/>
                <a:cs typeface="Times New Roman" panose="02020603050405020304" pitchFamily="18" charset="0"/>
              </a:rPr>
              <a:t> for the </a:t>
            </a:r>
            <a:r>
              <a:rPr lang="en-IN" sz="1600" b="1" dirty="0">
                <a:latin typeface="Times New Roman" panose="02020603050405020304" pitchFamily="18" charset="0"/>
                <a:cs typeface="Times New Roman" panose="02020603050405020304" pitchFamily="18" charset="0"/>
              </a:rPr>
              <a:t>Code-Geeks Online Learning Platform</a:t>
            </a:r>
            <a:r>
              <a:rPr lang="en-IN" sz="1600" dirty="0">
                <a:latin typeface="Times New Roman" panose="02020603050405020304" pitchFamily="18" charset="0"/>
                <a:cs typeface="Times New Roman" panose="02020603050405020304" pitchFamily="18" charset="0"/>
              </a:rPr>
              <a:t> illustrates the physical deployment of the system's components and how they interact across different nodes or servers. The diagram involves several key components, such as the </a:t>
            </a:r>
            <a:r>
              <a:rPr lang="en-IN" sz="1600" b="1" dirty="0">
                <a:latin typeface="Times New Roman" panose="02020603050405020304" pitchFamily="18" charset="0"/>
                <a:cs typeface="Times New Roman" panose="02020603050405020304" pitchFamily="18" charset="0"/>
              </a:rPr>
              <a:t>Learner's Device</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Instructor's Device</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Web Server</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Application Server</a:t>
            </a:r>
            <a:r>
              <a:rPr lang="en-IN" sz="1600" dirty="0">
                <a:latin typeface="Times New Roman" panose="02020603050405020304" pitchFamily="18" charset="0"/>
                <a:cs typeface="Times New Roman" panose="02020603050405020304" pitchFamily="18" charset="0"/>
              </a:rPr>
              <a:t>, and </a:t>
            </a:r>
            <a:r>
              <a:rPr lang="en-IN" sz="1600" b="1" dirty="0">
                <a:latin typeface="Times New Roman" panose="02020603050405020304" pitchFamily="18" charset="0"/>
                <a:cs typeface="Times New Roman" panose="02020603050405020304" pitchFamily="18" charset="0"/>
              </a:rPr>
              <a:t>Database Server</a:t>
            </a:r>
            <a:r>
              <a:rPr lang="en-IN" sz="1600" dirty="0">
                <a:latin typeface="Times New Roman" panose="02020603050405020304" pitchFamily="18" charset="0"/>
                <a:cs typeface="Times New Roman" panose="02020603050405020304" pitchFamily="18" charset="0"/>
              </a:rPr>
              <a:t>, each representing a node in the system. At the user end, the </a:t>
            </a:r>
            <a:r>
              <a:rPr lang="en-IN" sz="1600" b="1" dirty="0">
                <a:latin typeface="Times New Roman" panose="02020603050405020304" pitchFamily="18" charset="0"/>
                <a:cs typeface="Times New Roman" panose="02020603050405020304" pitchFamily="18" charset="0"/>
              </a:rPr>
              <a:t>Learner's Device</a:t>
            </a:r>
            <a:r>
              <a:rPr lang="en-IN" sz="1600" dirty="0">
                <a:latin typeface="Times New Roman" panose="02020603050405020304" pitchFamily="18" charset="0"/>
                <a:cs typeface="Times New Roman" panose="02020603050405020304" pitchFamily="18" charset="0"/>
              </a:rPr>
              <a:t> and the </a:t>
            </a:r>
            <a:r>
              <a:rPr lang="en-IN" sz="1600" b="1" dirty="0">
                <a:latin typeface="Times New Roman" panose="02020603050405020304" pitchFamily="18" charset="0"/>
                <a:cs typeface="Times New Roman" panose="02020603050405020304" pitchFamily="18" charset="0"/>
              </a:rPr>
              <a:t>Instructor's Device</a:t>
            </a:r>
            <a:r>
              <a:rPr lang="en-IN" sz="1600" dirty="0">
                <a:latin typeface="Times New Roman" panose="02020603050405020304" pitchFamily="18" charset="0"/>
                <a:cs typeface="Times New Roman" panose="02020603050405020304" pitchFamily="18" charset="0"/>
              </a:rPr>
              <a:t> are the primary clients that interact with the platform. These devices, which could be desktops, laptops, or mobile devices, access the platform via a web browser or a mobile app.</a:t>
            </a:r>
          </a:p>
        </p:txBody>
      </p:sp>
      <p:pic>
        <p:nvPicPr>
          <p:cNvPr id="5" name="Picture 4">
            <a:extLst>
              <a:ext uri="{FF2B5EF4-FFF2-40B4-BE49-F238E27FC236}">
                <a16:creationId xmlns:a16="http://schemas.microsoft.com/office/drawing/2014/main" id="{CE5BD5D4-7702-27BF-436F-0D0B5B52918A}"/>
              </a:ext>
            </a:extLst>
          </p:cNvPr>
          <p:cNvPicPr>
            <a:picLocks noChangeAspect="1"/>
          </p:cNvPicPr>
          <p:nvPr/>
        </p:nvPicPr>
        <p:blipFill>
          <a:blip r:embed="rId2"/>
          <a:stretch>
            <a:fillRect/>
          </a:stretch>
        </p:blipFill>
        <p:spPr>
          <a:xfrm>
            <a:off x="1983114" y="2967037"/>
            <a:ext cx="4906010" cy="1323975"/>
          </a:xfrm>
          <a:prstGeom prst="rect">
            <a:avLst/>
          </a:prstGeom>
        </p:spPr>
      </p:pic>
    </p:spTree>
    <p:extLst>
      <p:ext uri="{BB962C8B-B14F-4D97-AF65-F5344CB8AC3E}">
        <p14:creationId xmlns:p14="http://schemas.microsoft.com/office/powerpoint/2010/main" val="3900968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3678284" y="253117"/>
            <a:ext cx="8513716"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700" b="1" dirty="0">
                <a:latin typeface="Times New Roman" panose="02020603050405020304" pitchFamily="18" charset="0"/>
                <a:cs typeface="Times New Roman" panose="02020603050405020304" pitchFamily="18" charset="0"/>
              </a:rPr>
              <a:t>UML DIAGRAMS</a:t>
            </a:r>
          </a:p>
        </p:txBody>
      </p:sp>
      <p:sp>
        <p:nvSpPr>
          <p:cNvPr id="7" name="TextBox 6"/>
          <p:cNvSpPr txBox="1"/>
          <p:nvPr/>
        </p:nvSpPr>
        <p:spPr>
          <a:xfrm>
            <a:off x="7055526" y="1080655"/>
            <a:ext cx="4180510" cy="544405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Activity Diagram</a:t>
            </a:r>
            <a:r>
              <a:rPr lang="en-US" dirty="0">
                <a:latin typeface="Times New Roman" panose="02020603050405020304" pitchFamily="18" charset="0"/>
                <a:cs typeface="Times New Roman" panose="02020603050405020304" pitchFamily="18" charset="0"/>
              </a:rPr>
              <a:t> for the </a:t>
            </a:r>
            <a:r>
              <a:rPr lang="en-US" b="1" dirty="0">
                <a:latin typeface="Times New Roman" panose="02020603050405020304" pitchFamily="18" charset="0"/>
                <a:cs typeface="Times New Roman" panose="02020603050405020304" pitchFamily="18" charset="0"/>
              </a:rPr>
              <a:t>Code-Geeks Online Learning Platform</a:t>
            </a:r>
            <a:r>
              <a:rPr lang="en-US" dirty="0">
                <a:latin typeface="Times New Roman" panose="02020603050405020304" pitchFamily="18" charset="0"/>
                <a:cs typeface="Times New Roman" panose="02020603050405020304" pitchFamily="18" charset="0"/>
              </a:rPr>
              <a:t> illustrates the flow of activities and actions performed by users (learners and instructors) and the system throughout their interactions with the platform. The diagram begins with the </a:t>
            </a:r>
            <a:r>
              <a:rPr lang="en-US" b="1" dirty="0">
                <a:latin typeface="Times New Roman" panose="02020603050405020304" pitchFamily="18" charset="0"/>
                <a:cs typeface="Times New Roman" panose="02020603050405020304" pitchFamily="18" charset="0"/>
              </a:rPr>
              <a:t>Learner</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Instructor</a:t>
            </a:r>
            <a:r>
              <a:rPr lang="en-US" dirty="0">
                <a:latin typeface="Times New Roman" panose="02020603050405020304" pitchFamily="18" charset="0"/>
                <a:cs typeface="Times New Roman" panose="02020603050405020304" pitchFamily="18" charset="0"/>
              </a:rPr>
              <a:t> accessing the platform, either by logging into their account or registering as a new user. The system checks the credentials or registration details, and if valid, the user is granted access to their personalized dashboard.</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87802CA-EAC0-F138-9B08-5BCA082742D3}"/>
              </a:ext>
            </a:extLst>
          </p:cNvPr>
          <p:cNvPicPr>
            <a:picLocks noChangeAspect="1"/>
          </p:cNvPicPr>
          <p:nvPr/>
        </p:nvPicPr>
        <p:blipFill>
          <a:blip r:embed="rId2"/>
          <a:stretch>
            <a:fillRect/>
          </a:stretch>
        </p:blipFill>
        <p:spPr>
          <a:xfrm>
            <a:off x="2562224" y="494982"/>
            <a:ext cx="3952875" cy="5868035"/>
          </a:xfrm>
          <a:prstGeom prst="rect">
            <a:avLst/>
          </a:prstGeom>
        </p:spPr>
      </p:pic>
    </p:spTree>
    <p:extLst>
      <p:ext uri="{BB962C8B-B14F-4D97-AF65-F5344CB8AC3E}">
        <p14:creationId xmlns:p14="http://schemas.microsoft.com/office/powerpoint/2010/main" val="4248013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22320" y="1460796"/>
            <a:ext cx="5592590"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Component Diagram</a:t>
            </a:r>
            <a:r>
              <a:rPr lang="en-US" dirty="0">
                <a:latin typeface="Times New Roman" panose="02020603050405020304" pitchFamily="18" charset="0"/>
                <a:cs typeface="Times New Roman" panose="02020603050405020304" pitchFamily="18" charset="0"/>
              </a:rPr>
              <a:t> for the </a:t>
            </a:r>
            <a:r>
              <a:rPr lang="en-US" b="1" dirty="0">
                <a:latin typeface="Times New Roman" panose="02020603050405020304" pitchFamily="18" charset="0"/>
                <a:cs typeface="Times New Roman" panose="02020603050405020304" pitchFamily="18" charset="0"/>
              </a:rPr>
              <a:t>Code-Geeks Online Learning Platform</a:t>
            </a:r>
            <a:r>
              <a:rPr lang="en-US" dirty="0">
                <a:latin typeface="Times New Roman" panose="02020603050405020304" pitchFamily="18" charset="0"/>
                <a:cs typeface="Times New Roman" panose="02020603050405020304" pitchFamily="18" charset="0"/>
              </a:rPr>
              <a:t> provides a high-level view of the system’s components and how they interact with each other. The diagram breaks down the platform into several core components, each responsible for specific functionality. These components work together to deliver the various features required by learners, instructors, and administrators.</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2823167" y="260334"/>
            <a:ext cx="3906967" cy="798680"/>
          </a:xfrm>
          <a:prstGeom prst="rect">
            <a:avLst/>
          </a:prstGeom>
        </p:spPr>
        <p:txBody>
          <a:bodyPr wrap="none">
            <a:spAutoFit/>
          </a:bodyPr>
          <a:lstStyle/>
          <a:p>
            <a:pPr lvl="2" algn="ctr">
              <a:lnSpc>
                <a:spcPct val="170000"/>
              </a:lnSpc>
            </a:pPr>
            <a:r>
              <a:rPr lang="en-US" sz="2700" b="1" dirty="0">
                <a:latin typeface="Times New Roman" panose="02020603050405020304" pitchFamily="18" charset="0"/>
                <a:cs typeface="Times New Roman" panose="02020603050405020304" pitchFamily="18" charset="0"/>
              </a:rPr>
              <a:t>UML DIAGRAMS</a:t>
            </a:r>
          </a:p>
        </p:txBody>
      </p:sp>
      <p:pic>
        <p:nvPicPr>
          <p:cNvPr id="5" name="Picture 4">
            <a:extLst>
              <a:ext uri="{FF2B5EF4-FFF2-40B4-BE49-F238E27FC236}">
                <a16:creationId xmlns:a16="http://schemas.microsoft.com/office/drawing/2014/main" id="{53ACCDFC-E3F5-240F-EF26-B6A3E2133DA3}"/>
              </a:ext>
            </a:extLst>
          </p:cNvPr>
          <p:cNvPicPr>
            <a:picLocks noChangeAspect="1"/>
          </p:cNvPicPr>
          <p:nvPr/>
        </p:nvPicPr>
        <p:blipFill>
          <a:blip r:embed="rId2"/>
          <a:stretch>
            <a:fillRect/>
          </a:stretch>
        </p:blipFill>
        <p:spPr>
          <a:xfrm>
            <a:off x="1473460" y="2348739"/>
            <a:ext cx="4848860" cy="1590675"/>
          </a:xfrm>
          <a:prstGeom prst="rect">
            <a:avLst/>
          </a:prstGeom>
        </p:spPr>
      </p:pic>
    </p:spTree>
    <p:extLst>
      <p:ext uri="{BB962C8B-B14F-4D97-AF65-F5344CB8AC3E}">
        <p14:creationId xmlns:p14="http://schemas.microsoft.com/office/powerpoint/2010/main" val="2003184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435558" y="626558"/>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700" b="1" dirty="0">
                <a:latin typeface="Times New Roman" panose="02020603050405020304" pitchFamily="18" charset="0"/>
                <a:cs typeface="Times New Roman" panose="02020603050405020304" pitchFamily="18" charset="0"/>
              </a:rPr>
              <a:t>UML DIAGRAMS</a:t>
            </a:r>
          </a:p>
        </p:txBody>
      </p:sp>
      <p:sp>
        <p:nvSpPr>
          <p:cNvPr id="3" name="TextBox 2"/>
          <p:cNvSpPr txBox="1"/>
          <p:nvPr/>
        </p:nvSpPr>
        <p:spPr>
          <a:xfrm>
            <a:off x="1842654" y="1158462"/>
            <a:ext cx="9282545" cy="5586145"/>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ER Diagram:</a:t>
            </a:r>
            <a:endParaRPr lang="en-US"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Entity-Relationship (ER) Diagram</a:t>
            </a:r>
            <a:r>
              <a:rPr lang="en-US" sz="2000" dirty="0">
                <a:latin typeface="Times New Roman" panose="02020603050405020304" pitchFamily="18" charset="0"/>
                <a:cs typeface="Times New Roman" panose="02020603050405020304" pitchFamily="18" charset="0"/>
              </a:rPr>
              <a:t> for the </a:t>
            </a:r>
            <a:r>
              <a:rPr lang="en-US" sz="2000" b="1" dirty="0">
                <a:latin typeface="Times New Roman" panose="02020603050405020304" pitchFamily="18" charset="0"/>
                <a:cs typeface="Times New Roman" panose="02020603050405020304" pitchFamily="18" charset="0"/>
              </a:rPr>
              <a:t>Code-Geeks Online Learning Platform</a:t>
            </a:r>
            <a:r>
              <a:rPr lang="en-US" sz="2000" dirty="0">
                <a:latin typeface="Times New Roman" panose="02020603050405020304" pitchFamily="18" charset="0"/>
                <a:cs typeface="Times New Roman" panose="02020603050405020304" pitchFamily="18" charset="0"/>
              </a:rPr>
              <a:t> provides a visual representation of the system's key entities, their attributes, and the relationships between them. The diagram outlines the main entities involved in the platform, including </a:t>
            </a:r>
            <a:r>
              <a:rPr lang="en-US" sz="2000" b="1" dirty="0">
                <a:latin typeface="Times New Roman" panose="02020603050405020304" pitchFamily="18" charset="0"/>
                <a:cs typeface="Times New Roman" panose="02020603050405020304" pitchFamily="18" charset="0"/>
              </a:rPr>
              <a:t>User</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Course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Instructor</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Learner</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Assignment</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Feedback</a:t>
            </a:r>
            <a:r>
              <a:rPr lang="en-US" sz="2000" dirty="0">
                <a:latin typeface="Times New Roman" panose="02020603050405020304" pitchFamily="18" charset="0"/>
                <a:cs typeface="Times New Roman" panose="02020603050405020304" pitchFamily="18" charset="0"/>
              </a:rPr>
              <a:t>, and describes how they are interconnected to manage user data, course content, and performance tracking. The </a:t>
            </a:r>
            <a:r>
              <a:rPr lang="en-US" sz="2000" b="1" dirty="0">
                <a:latin typeface="Times New Roman" panose="02020603050405020304" pitchFamily="18" charset="0"/>
                <a:cs typeface="Times New Roman" panose="02020603050405020304" pitchFamily="18" charset="0"/>
              </a:rPr>
              <a:t>User</a:t>
            </a:r>
            <a:r>
              <a:rPr lang="en-US" sz="2000" dirty="0">
                <a:latin typeface="Times New Roman" panose="02020603050405020304" pitchFamily="18" charset="0"/>
                <a:cs typeface="Times New Roman" panose="02020603050405020304" pitchFamily="18" charset="0"/>
              </a:rPr>
              <a:t> entity serves as the parent entity and has attributes such as </a:t>
            </a:r>
            <a:r>
              <a:rPr lang="en-US" sz="2000" b="1" dirty="0" err="1">
                <a:latin typeface="Times New Roman" panose="02020603050405020304" pitchFamily="18" charset="0"/>
                <a:cs typeface="Times New Roman" panose="02020603050405020304" pitchFamily="18" charset="0"/>
              </a:rPr>
              <a:t>userID</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email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password</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role</a:t>
            </a:r>
            <a:r>
              <a:rPr lang="en-US" sz="2000" dirty="0">
                <a:latin typeface="Times New Roman" panose="02020603050405020304" pitchFamily="18" charset="0"/>
                <a:cs typeface="Times New Roman" panose="02020603050405020304" pitchFamily="18" charset="0"/>
              </a:rPr>
              <a:t> (either learner or instructor). The </a:t>
            </a:r>
            <a:r>
              <a:rPr lang="en-US" sz="2000" b="1" dirty="0">
                <a:latin typeface="Times New Roman" panose="02020603050405020304" pitchFamily="18" charset="0"/>
                <a:cs typeface="Times New Roman" panose="02020603050405020304" pitchFamily="18" charset="0"/>
              </a:rPr>
              <a:t>Learner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Instructor</a:t>
            </a:r>
            <a:r>
              <a:rPr lang="en-US" sz="2000" dirty="0">
                <a:latin typeface="Times New Roman" panose="02020603050405020304" pitchFamily="18" charset="0"/>
                <a:cs typeface="Times New Roman" panose="02020603050405020304" pitchFamily="18" charset="0"/>
              </a:rPr>
              <a:t> entities inherit from the </a:t>
            </a:r>
            <a:r>
              <a:rPr lang="en-US" sz="2000" b="1" dirty="0">
                <a:latin typeface="Times New Roman" panose="02020603050405020304" pitchFamily="18" charset="0"/>
                <a:cs typeface="Times New Roman" panose="02020603050405020304" pitchFamily="18" charset="0"/>
              </a:rPr>
              <a:t>User</a:t>
            </a:r>
            <a:r>
              <a:rPr lang="en-US" sz="2000" dirty="0">
                <a:latin typeface="Times New Roman" panose="02020603050405020304" pitchFamily="18" charset="0"/>
                <a:cs typeface="Times New Roman" panose="02020603050405020304" pitchFamily="18" charset="0"/>
              </a:rPr>
              <a:t> entity. The </a:t>
            </a:r>
            <a:r>
              <a:rPr lang="en-US" sz="2000" b="1" dirty="0">
                <a:latin typeface="Times New Roman" panose="02020603050405020304" pitchFamily="18" charset="0"/>
                <a:cs typeface="Times New Roman" panose="02020603050405020304" pitchFamily="18" charset="0"/>
              </a:rPr>
              <a:t>Learner</a:t>
            </a:r>
            <a:r>
              <a:rPr lang="en-US" sz="2000" dirty="0">
                <a:latin typeface="Times New Roman" panose="02020603050405020304" pitchFamily="18" charset="0"/>
                <a:cs typeface="Times New Roman" panose="02020603050405020304" pitchFamily="18" charset="0"/>
              </a:rPr>
              <a:t> entity includes additional attributes such as </a:t>
            </a:r>
            <a:r>
              <a:rPr lang="en-US" sz="2000" b="1" dirty="0">
                <a:latin typeface="Times New Roman" panose="02020603050405020304" pitchFamily="18" charset="0"/>
                <a:cs typeface="Times New Roman" panose="02020603050405020304" pitchFamily="18" charset="0"/>
              </a:rPr>
              <a:t>progress</a:t>
            </a:r>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enrollmentDate</a:t>
            </a:r>
            <a:r>
              <a:rPr lang="en-US" sz="2000" dirty="0">
                <a:latin typeface="Times New Roman" panose="02020603050405020304" pitchFamily="18" charset="0"/>
                <a:cs typeface="Times New Roman" panose="02020603050405020304" pitchFamily="18" charset="0"/>
              </a:rPr>
              <a:t>, and </a:t>
            </a:r>
            <a:r>
              <a:rPr lang="en-US" sz="2000" b="1" dirty="0" err="1">
                <a:latin typeface="Times New Roman" panose="02020603050405020304" pitchFamily="18" charset="0"/>
                <a:cs typeface="Times New Roman" panose="02020603050405020304" pitchFamily="18" charset="0"/>
              </a:rPr>
              <a:t>certificationStatus</a:t>
            </a:r>
            <a:r>
              <a:rPr lang="en-US" sz="2000" dirty="0">
                <a:latin typeface="Times New Roman" panose="02020603050405020304" pitchFamily="18" charset="0"/>
                <a:cs typeface="Times New Roman" panose="02020603050405020304" pitchFamily="18" charset="0"/>
              </a:rPr>
              <a:t>, while the </a:t>
            </a:r>
            <a:r>
              <a:rPr lang="en-US" sz="2000" b="1" dirty="0">
                <a:latin typeface="Times New Roman" panose="02020603050405020304" pitchFamily="18" charset="0"/>
                <a:cs typeface="Times New Roman" panose="02020603050405020304" pitchFamily="18" charset="0"/>
              </a:rPr>
              <a:t>Instructor</a:t>
            </a:r>
            <a:r>
              <a:rPr lang="en-US" sz="2000" dirty="0">
                <a:latin typeface="Times New Roman" panose="02020603050405020304" pitchFamily="18" charset="0"/>
                <a:cs typeface="Times New Roman" panose="02020603050405020304" pitchFamily="18" charset="0"/>
              </a:rPr>
              <a:t> entity has attributes like </a:t>
            </a:r>
            <a:r>
              <a:rPr lang="en-US" sz="2000" b="1" dirty="0" err="1">
                <a:latin typeface="Times New Roman" panose="02020603050405020304" pitchFamily="18" charset="0"/>
                <a:cs typeface="Times New Roman" panose="02020603050405020304" pitchFamily="18" charset="0"/>
              </a:rPr>
              <a:t>instructorID</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bio</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specialization</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9369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13907" y="157128"/>
            <a:ext cx="4127863" cy="798680"/>
          </a:xfrm>
          <a:prstGeom prst="rect">
            <a:avLst/>
          </a:prstGeom>
        </p:spPr>
        <p:txBody>
          <a:bodyPr wrap="square">
            <a:spAutoFit/>
          </a:bodyPr>
          <a:lstStyle/>
          <a:p>
            <a:pPr lvl="2" algn="ctr">
              <a:lnSpc>
                <a:spcPct val="170000"/>
              </a:lnSpc>
            </a:pPr>
            <a:r>
              <a:rPr lang="en-US" sz="2700" b="1" dirty="0">
                <a:latin typeface="Times New Roman" panose="02020603050405020304" pitchFamily="18" charset="0"/>
                <a:cs typeface="Times New Roman" panose="02020603050405020304" pitchFamily="18" charset="0"/>
              </a:rPr>
              <a:t>ER DIAGRAMS</a:t>
            </a:r>
          </a:p>
        </p:txBody>
      </p:sp>
      <p:pic>
        <p:nvPicPr>
          <p:cNvPr id="2" name="Picture 1">
            <a:extLst>
              <a:ext uri="{FF2B5EF4-FFF2-40B4-BE49-F238E27FC236}">
                <a16:creationId xmlns:a16="http://schemas.microsoft.com/office/drawing/2014/main" id="{0FD044F5-E43D-14B5-B93E-C2FA16134C84}"/>
              </a:ext>
            </a:extLst>
          </p:cNvPr>
          <p:cNvPicPr>
            <a:picLocks noChangeAspect="1"/>
          </p:cNvPicPr>
          <p:nvPr/>
        </p:nvPicPr>
        <p:blipFill>
          <a:blip r:embed="rId2"/>
          <a:stretch>
            <a:fillRect/>
          </a:stretch>
        </p:blipFill>
        <p:spPr>
          <a:xfrm>
            <a:off x="3230245" y="2411095"/>
            <a:ext cx="5731510" cy="2035810"/>
          </a:xfrm>
          <a:prstGeom prst="rect">
            <a:avLst/>
          </a:prstGeom>
        </p:spPr>
      </p:pic>
    </p:spTree>
    <p:extLst>
      <p:ext uri="{BB962C8B-B14F-4D97-AF65-F5344CB8AC3E}">
        <p14:creationId xmlns:p14="http://schemas.microsoft.com/office/powerpoint/2010/main" val="449765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603000" y="313236"/>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700" b="1" dirty="0">
                <a:latin typeface="Times New Roman" panose="02020603050405020304" pitchFamily="18" charset="0"/>
                <a:cs typeface="Times New Roman" panose="02020603050405020304" pitchFamily="18" charset="0"/>
              </a:rPr>
              <a:t>UML DIAGRAMS</a:t>
            </a:r>
          </a:p>
        </p:txBody>
      </p:sp>
      <p:sp>
        <p:nvSpPr>
          <p:cNvPr id="3" name="TextBox 2"/>
          <p:cNvSpPr txBox="1"/>
          <p:nvPr/>
        </p:nvSpPr>
        <p:spPr>
          <a:xfrm>
            <a:off x="1704109" y="1316182"/>
            <a:ext cx="9337965" cy="4662815"/>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DFD Diagram:</a:t>
            </a:r>
            <a:endParaRPr lang="en-US"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Data Flow Diagram (DFD)</a:t>
            </a:r>
            <a:r>
              <a:rPr lang="en-US" sz="2000" dirty="0">
                <a:latin typeface="Times New Roman" panose="02020603050405020304" pitchFamily="18" charset="0"/>
                <a:cs typeface="Times New Roman" panose="02020603050405020304" pitchFamily="18" charset="0"/>
              </a:rPr>
              <a:t> for the </a:t>
            </a:r>
            <a:r>
              <a:rPr lang="en-US" sz="2000" b="1" dirty="0">
                <a:latin typeface="Times New Roman" panose="02020603050405020304" pitchFamily="18" charset="0"/>
                <a:cs typeface="Times New Roman" panose="02020603050405020304" pitchFamily="18" charset="0"/>
              </a:rPr>
              <a:t>Code-Geeks Online Learning Platform</a:t>
            </a:r>
            <a:r>
              <a:rPr lang="en-US" sz="2000" dirty="0">
                <a:latin typeface="Times New Roman" panose="02020603050405020304" pitchFamily="18" charset="0"/>
                <a:cs typeface="Times New Roman" panose="02020603050405020304" pitchFamily="18" charset="0"/>
              </a:rPr>
              <a:t> illustrates the flow of information between various processes and components within the system. It highlights how data is collected, processed, and outputted, providing a clear representation of the system's functionality and the interactions between users (learners and instructors) and the platform.</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At the highest level (Level 0), the </a:t>
            </a:r>
            <a:r>
              <a:rPr lang="en-IN" sz="2000" b="1" dirty="0">
                <a:latin typeface="Times New Roman" panose="02020603050405020304" pitchFamily="18" charset="0"/>
                <a:cs typeface="Times New Roman" panose="02020603050405020304" pitchFamily="18" charset="0"/>
              </a:rPr>
              <a:t>DFD</a:t>
            </a:r>
            <a:r>
              <a:rPr lang="en-IN" sz="2000" dirty="0">
                <a:latin typeface="Times New Roman" panose="02020603050405020304" pitchFamily="18" charset="0"/>
                <a:cs typeface="Times New Roman" panose="02020603050405020304" pitchFamily="18" charset="0"/>
              </a:rPr>
              <a:t> depicts the entire system as a single process, with external entities such as </a:t>
            </a:r>
            <a:r>
              <a:rPr lang="en-IN" sz="2000" b="1" dirty="0">
                <a:latin typeface="Times New Roman" panose="02020603050405020304" pitchFamily="18" charset="0"/>
                <a:cs typeface="Times New Roman" panose="02020603050405020304" pitchFamily="18" charset="0"/>
              </a:rPr>
              <a:t>Learners</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Instructors</a:t>
            </a:r>
            <a:r>
              <a:rPr lang="en-IN" sz="2000" dirty="0">
                <a:latin typeface="Times New Roman" panose="02020603050405020304" pitchFamily="18" charset="0"/>
                <a:cs typeface="Times New Roman" panose="02020603050405020304" pitchFamily="18" charset="0"/>
              </a:rPr>
              <a:t>, and the </a:t>
            </a:r>
            <a:r>
              <a:rPr lang="en-IN" sz="2000" b="1" dirty="0">
                <a:latin typeface="Times New Roman" panose="02020603050405020304" pitchFamily="18" charset="0"/>
                <a:cs typeface="Times New Roman" panose="02020603050405020304" pitchFamily="18" charset="0"/>
              </a:rPr>
              <a:t>Database</a:t>
            </a:r>
            <a:r>
              <a:rPr lang="en-IN" sz="2000" dirty="0">
                <a:latin typeface="Times New Roman" panose="02020603050405020304" pitchFamily="18" charset="0"/>
                <a:cs typeface="Times New Roman" panose="02020603050405020304" pitchFamily="18" charset="0"/>
              </a:rPr>
              <a:t>. The </a:t>
            </a:r>
            <a:r>
              <a:rPr lang="en-IN" sz="2000" b="1" dirty="0">
                <a:latin typeface="Times New Roman" panose="02020603050405020304" pitchFamily="18" charset="0"/>
                <a:cs typeface="Times New Roman" panose="02020603050405020304" pitchFamily="18" charset="0"/>
              </a:rPr>
              <a:t>Learners</a:t>
            </a:r>
            <a:r>
              <a:rPr lang="en-IN" sz="2000" dirty="0">
                <a:latin typeface="Times New Roman" panose="02020603050405020304" pitchFamily="18" charset="0"/>
                <a:cs typeface="Times New Roman" panose="02020603050405020304" pitchFamily="18" charset="0"/>
              </a:rPr>
              <a:t> interact with the system by submitting login credentials, browsing available courses, enrolling, completing assignments, and receiving feedback.</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2194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7281" y="221145"/>
            <a:ext cx="3829895" cy="798680"/>
          </a:xfrm>
          <a:prstGeom prst="rect">
            <a:avLst/>
          </a:prstGeom>
        </p:spPr>
        <p:txBody>
          <a:bodyPr wrap="none">
            <a:spAutoFit/>
          </a:bodyPr>
          <a:lstStyle/>
          <a:p>
            <a:pPr lvl="2" algn="ctr">
              <a:lnSpc>
                <a:spcPct val="170000"/>
              </a:lnSpc>
            </a:pPr>
            <a:r>
              <a:rPr lang="en-US" sz="2700" b="1" dirty="0">
                <a:latin typeface="Times New Roman" panose="02020603050405020304" pitchFamily="18" charset="0"/>
                <a:cs typeface="Times New Roman" panose="02020603050405020304" pitchFamily="18" charset="0"/>
              </a:rPr>
              <a:t>DFD DIAGRAMS</a:t>
            </a:r>
          </a:p>
        </p:txBody>
      </p:sp>
      <p:sp>
        <p:nvSpPr>
          <p:cNvPr id="4" name="Rectangle 3"/>
          <p:cNvSpPr/>
          <p:nvPr/>
        </p:nvSpPr>
        <p:spPr>
          <a:xfrm>
            <a:off x="5116623" y="5394039"/>
            <a:ext cx="2489522" cy="369332"/>
          </a:xfrm>
          <a:prstGeom prst="rect">
            <a:avLst/>
          </a:prstGeom>
        </p:spPr>
        <p:txBody>
          <a:bodyPr wrap="square">
            <a:spAutoFit/>
          </a:bodyPr>
          <a:lstStyle/>
          <a:p>
            <a:pPr algn="ctr"/>
            <a:r>
              <a:rPr lang="en-US" b="1" dirty="0">
                <a:latin typeface="Times New Roman" panose="02020603050405020304" pitchFamily="18" charset="0"/>
                <a:cs typeface="Times New Roman" panose="02020603050405020304" pitchFamily="18" charset="0"/>
              </a:rPr>
              <a:t>DFD level-1 diagram</a:t>
            </a:r>
            <a:endParaRPr lang="en-IN" dirty="0"/>
          </a:p>
        </p:txBody>
      </p:sp>
      <p:pic>
        <p:nvPicPr>
          <p:cNvPr id="5" name="Picture 4">
            <a:extLst>
              <a:ext uri="{FF2B5EF4-FFF2-40B4-BE49-F238E27FC236}">
                <a16:creationId xmlns:a16="http://schemas.microsoft.com/office/drawing/2014/main" id="{70523BC7-38D1-AE8D-7872-56B359E46C2E}"/>
              </a:ext>
            </a:extLst>
          </p:cNvPr>
          <p:cNvPicPr>
            <a:picLocks noChangeAspect="1"/>
          </p:cNvPicPr>
          <p:nvPr/>
        </p:nvPicPr>
        <p:blipFill>
          <a:blip r:embed="rId2"/>
          <a:stretch>
            <a:fillRect/>
          </a:stretch>
        </p:blipFill>
        <p:spPr>
          <a:xfrm>
            <a:off x="3230245" y="1514792"/>
            <a:ext cx="5731510" cy="3828415"/>
          </a:xfrm>
          <a:prstGeom prst="rect">
            <a:avLst/>
          </a:prstGeom>
        </p:spPr>
      </p:pic>
    </p:spTree>
    <p:extLst>
      <p:ext uri="{BB962C8B-B14F-4D97-AF65-F5344CB8AC3E}">
        <p14:creationId xmlns:p14="http://schemas.microsoft.com/office/powerpoint/2010/main" val="930581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3406" y="142768"/>
            <a:ext cx="3829895" cy="798680"/>
          </a:xfrm>
          <a:prstGeom prst="rect">
            <a:avLst/>
          </a:prstGeom>
        </p:spPr>
        <p:txBody>
          <a:bodyPr wrap="none">
            <a:spAutoFit/>
          </a:bodyPr>
          <a:lstStyle/>
          <a:p>
            <a:pPr lvl="2" algn="ctr">
              <a:lnSpc>
                <a:spcPct val="170000"/>
              </a:lnSpc>
            </a:pPr>
            <a:r>
              <a:rPr lang="en-US" sz="2700" b="1" dirty="0">
                <a:latin typeface="Times New Roman" panose="02020603050405020304" pitchFamily="18" charset="0"/>
                <a:cs typeface="Times New Roman" panose="02020603050405020304" pitchFamily="18" charset="0"/>
              </a:rPr>
              <a:t>DFD DIAGRAMS</a:t>
            </a:r>
          </a:p>
        </p:txBody>
      </p:sp>
      <p:sp>
        <p:nvSpPr>
          <p:cNvPr id="5" name="Rectangle 4"/>
          <p:cNvSpPr/>
          <p:nvPr/>
        </p:nvSpPr>
        <p:spPr>
          <a:xfrm>
            <a:off x="4280506" y="5860607"/>
            <a:ext cx="2533707" cy="369332"/>
          </a:xfrm>
          <a:prstGeom prst="rect">
            <a:avLst/>
          </a:prstGeom>
        </p:spPr>
        <p:txBody>
          <a:bodyPr wrap="none">
            <a:spAutoFit/>
          </a:bodyPr>
          <a:lstStyle/>
          <a:p>
            <a:pPr algn="ctr"/>
            <a:r>
              <a:rPr lang="en-US" b="1" dirty="0">
                <a:latin typeface="Times New Roman" panose="02020603050405020304" pitchFamily="18" charset="0"/>
                <a:cs typeface="Times New Roman" panose="02020603050405020304" pitchFamily="18" charset="0"/>
              </a:rPr>
              <a:t>Figure:Level-2 diagram</a:t>
            </a:r>
          </a:p>
        </p:txBody>
      </p:sp>
      <p:sp>
        <p:nvSpPr>
          <p:cNvPr id="24" name="Rectangle 37"/>
          <p:cNvSpPr>
            <a:spLocks noChangeArrowheads="1"/>
          </p:cNvSpPr>
          <p:nvPr/>
        </p:nvSpPr>
        <p:spPr bwMode="auto">
          <a:xfrm>
            <a:off x="0" y="46167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4" name="Straight Arrow Connector 3"/>
          <p:cNvCxnSpPr/>
          <p:nvPr/>
        </p:nvCxnSpPr>
        <p:spPr>
          <a:xfrm>
            <a:off x="8146473" y="3228109"/>
            <a:ext cx="1524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22959F8-236D-07B5-FB87-C813D4AC834B}"/>
              </a:ext>
            </a:extLst>
          </p:cNvPr>
          <p:cNvPicPr>
            <a:picLocks noChangeAspect="1"/>
          </p:cNvPicPr>
          <p:nvPr/>
        </p:nvPicPr>
        <p:blipFill>
          <a:blip r:embed="rId2"/>
          <a:stretch>
            <a:fillRect/>
          </a:stretch>
        </p:blipFill>
        <p:spPr>
          <a:xfrm>
            <a:off x="3323907" y="1290637"/>
            <a:ext cx="5544185" cy="4276725"/>
          </a:xfrm>
          <a:prstGeom prst="rect">
            <a:avLst/>
          </a:prstGeom>
        </p:spPr>
      </p:pic>
    </p:spTree>
    <p:extLst>
      <p:ext uri="{BB962C8B-B14F-4D97-AF65-F5344CB8AC3E}">
        <p14:creationId xmlns:p14="http://schemas.microsoft.com/office/powerpoint/2010/main" val="1289658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9" y="300446"/>
            <a:ext cx="10018713" cy="666206"/>
          </a:xfrm>
        </p:spPr>
        <p:txBody>
          <a:bodyPr>
            <a:normAutofit fontScale="90000"/>
          </a:bodyPr>
          <a:lstStyle/>
          <a:p>
            <a:pPr algn="ctr"/>
            <a:r>
              <a:rPr lang="en-US" sz="3600" b="1" dirty="0">
                <a:solidFill>
                  <a:schemeClr val="tx1"/>
                </a:solidFill>
                <a:latin typeface="Times New Roman" panose="02020603050405020304" pitchFamily="18" charset="0"/>
                <a:cs typeface="Times New Roman" panose="02020603050405020304" pitchFamily="18" charset="0"/>
              </a:rPr>
              <a:t>CONCLUSION</a:t>
            </a:r>
            <a:br>
              <a:rPr lang="en-IN" dirty="0">
                <a:solidFill>
                  <a:schemeClr val="tx1"/>
                </a:solidFill>
              </a:rPr>
            </a:br>
            <a:endParaRPr lang="en-IN" dirty="0">
              <a:solidFill>
                <a:schemeClr val="tx1"/>
              </a:solidFill>
            </a:endParaRPr>
          </a:p>
        </p:txBody>
      </p:sp>
      <p:sp>
        <p:nvSpPr>
          <p:cNvPr id="3" name="Content Placeholder 2"/>
          <p:cNvSpPr>
            <a:spLocks noGrp="1"/>
          </p:cNvSpPr>
          <p:nvPr>
            <p:ph idx="1"/>
          </p:nvPr>
        </p:nvSpPr>
        <p:spPr>
          <a:xfrm>
            <a:off x="1688275" y="300446"/>
            <a:ext cx="10018713" cy="6018955"/>
          </a:xfrm>
        </p:spPr>
        <p:txBody>
          <a:bodyPr>
            <a:no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In this project, a secure cloud storage system was developed using </a:t>
            </a:r>
            <a:r>
              <a:rPr lang="en-US" sz="1600"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(Edwards-Curve Digital Signature Algorithm) to provide robust data protection. By leveraging the non-commutative properties of </a:t>
            </a:r>
            <a:r>
              <a:rPr lang="en-US" sz="1600"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the system ensures data integrity, authenticity, and confidentiality, making it resistant to both traditional and emerging cryptographic attacks, including those posed by quantum computing. The solution not only addresses current security challenges but also prepares for future threats, offering enhanced security and scalability. With faster signature generation and verification, the system ensures efficient performance while maintaining high security. Additionally, the user-friendly interface enables seamless data upload, retrieval, and management. Overall, this project provides a secure, scalable, and quantum-resistant solution for cloud storage, ensuring the long-term protection of sensitive data in an increasingly digital world.</a:t>
            </a:r>
          </a:p>
        </p:txBody>
      </p:sp>
    </p:spTree>
    <p:extLst>
      <p:ext uri="{BB962C8B-B14F-4D97-AF65-F5344CB8AC3E}">
        <p14:creationId xmlns:p14="http://schemas.microsoft.com/office/powerpoint/2010/main" val="3628608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9277" y="217449"/>
            <a:ext cx="10018713" cy="738051"/>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FUTURE ENHANCEMENT</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29277" y="771292"/>
            <a:ext cx="10411957" cy="5869259"/>
          </a:xfrm>
        </p:spPr>
        <p:txBody>
          <a:bodyPr>
            <a:noAutofit/>
          </a:bodyPr>
          <a:lstStyle/>
          <a:p>
            <a:pPr marL="0" indent="0" algn="just">
              <a:lnSpc>
                <a:spcPct val="150000"/>
              </a:lnSpc>
              <a:buNone/>
            </a:pPr>
            <a:r>
              <a:rPr lang="en-IN" sz="1600" dirty="0">
                <a:latin typeface="Times New Roman" panose="02020603050405020304" pitchFamily="18" charset="0"/>
                <a:cs typeface="Times New Roman" panose="02020603050405020304" pitchFamily="18" charset="0"/>
              </a:rPr>
              <a:t>Several enhancements can be introduced to improve the security, scalability, and usability of the cloud storage system. Adding </a:t>
            </a:r>
            <a:r>
              <a:rPr lang="en-IN" sz="1600" b="1" dirty="0">
                <a:latin typeface="Times New Roman" panose="02020603050405020304" pitchFamily="18" charset="0"/>
                <a:cs typeface="Times New Roman" panose="02020603050405020304" pitchFamily="18" charset="0"/>
              </a:rPr>
              <a:t>Multi-Factor Authentication (MFA)</a:t>
            </a:r>
            <a:r>
              <a:rPr lang="en-IN" sz="1600" dirty="0">
                <a:latin typeface="Times New Roman" panose="02020603050405020304" pitchFamily="18" charset="0"/>
                <a:cs typeface="Times New Roman" panose="02020603050405020304" pitchFamily="18" charset="0"/>
              </a:rPr>
              <a:t> would provide an extra layer of security during user login and document access. </a:t>
            </a:r>
            <a:r>
              <a:rPr lang="en-IN" sz="1600" b="1" dirty="0">
                <a:latin typeface="Times New Roman" panose="02020603050405020304" pitchFamily="18" charset="0"/>
                <a:cs typeface="Times New Roman" panose="02020603050405020304" pitchFamily="18" charset="0"/>
              </a:rPr>
              <a:t>Role-Based Access Control (RBAC)</a:t>
            </a:r>
            <a:r>
              <a:rPr lang="en-IN" sz="1600" dirty="0">
                <a:latin typeface="Times New Roman" panose="02020603050405020304" pitchFamily="18" charset="0"/>
                <a:cs typeface="Times New Roman" panose="02020603050405020304" pitchFamily="18" charset="0"/>
              </a:rPr>
              <a:t> could enable administrators to manage access to documents based on user roles, ensuring that sensitive data is restricted to authorized users. Implementing a </a:t>
            </a:r>
            <a:r>
              <a:rPr lang="en-IN" sz="1600" b="1" dirty="0">
                <a:latin typeface="Times New Roman" panose="02020603050405020304" pitchFamily="18" charset="0"/>
                <a:cs typeface="Times New Roman" panose="02020603050405020304" pitchFamily="18" charset="0"/>
              </a:rPr>
              <a:t>file versioning</a:t>
            </a:r>
            <a:r>
              <a:rPr lang="en-IN" sz="1600" dirty="0">
                <a:latin typeface="Times New Roman" panose="02020603050405020304" pitchFamily="18" charset="0"/>
                <a:cs typeface="Times New Roman" panose="02020603050405020304" pitchFamily="18" charset="0"/>
              </a:rPr>
              <a:t> system would allow users to track and revert to previous versions of uploaded files, especially useful in collaborative environments. Combining </a:t>
            </a:r>
            <a:r>
              <a:rPr lang="en-IN" sz="1600" b="1" dirty="0" err="1">
                <a:latin typeface="Times New Roman" panose="02020603050405020304" pitchFamily="18" charset="0"/>
                <a:cs typeface="Times New Roman" panose="02020603050405020304" pitchFamily="18" charset="0"/>
              </a:rPr>
              <a:t>EdDSA</a:t>
            </a:r>
            <a:r>
              <a:rPr lang="en-IN" sz="1600" dirty="0">
                <a:latin typeface="Times New Roman" panose="02020603050405020304" pitchFamily="18" charset="0"/>
                <a:cs typeface="Times New Roman" panose="02020603050405020304" pitchFamily="18" charset="0"/>
              </a:rPr>
              <a:t> with symmetric encryption algorithms like </a:t>
            </a:r>
            <a:r>
              <a:rPr lang="en-IN" sz="1600" b="1" dirty="0">
                <a:latin typeface="Times New Roman" panose="02020603050405020304" pitchFamily="18" charset="0"/>
                <a:cs typeface="Times New Roman" panose="02020603050405020304" pitchFamily="18" charset="0"/>
              </a:rPr>
              <a:t>AES</a:t>
            </a:r>
            <a:r>
              <a:rPr lang="en-IN" sz="1600" dirty="0">
                <a:latin typeface="Times New Roman" panose="02020603050405020304" pitchFamily="18" charset="0"/>
                <a:cs typeface="Times New Roman" panose="02020603050405020304" pitchFamily="18" charset="0"/>
              </a:rPr>
              <a:t> for </a:t>
            </a:r>
            <a:r>
              <a:rPr lang="en-IN" sz="1600" b="1" dirty="0">
                <a:latin typeface="Times New Roman" panose="02020603050405020304" pitchFamily="18" charset="0"/>
                <a:cs typeface="Times New Roman" panose="02020603050405020304" pitchFamily="18" charset="0"/>
              </a:rPr>
              <a:t>hybrid encryption</a:t>
            </a:r>
            <a:r>
              <a:rPr lang="en-IN" sz="1600" dirty="0">
                <a:latin typeface="Times New Roman" panose="02020603050405020304" pitchFamily="18" charset="0"/>
                <a:cs typeface="Times New Roman" panose="02020603050405020304" pitchFamily="18" charset="0"/>
              </a:rPr>
              <a:t> could enhance performance by enabling faster file encryption while maintaining strong security. </a:t>
            </a:r>
            <a:r>
              <a:rPr lang="en-IN" sz="1600" b="1" dirty="0">
                <a:latin typeface="Times New Roman" panose="02020603050405020304" pitchFamily="18" charset="0"/>
                <a:cs typeface="Times New Roman" panose="02020603050405020304" pitchFamily="18" charset="0"/>
              </a:rPr>
              <a:t>Audit logging</a:t>
            </a:r>
            <a:r>
              <a:rPr lang="en-IN" sz="1600" dirty="0">
                <a:latin typeface="Times New Roman" panose="02020603050405020304" pitchFamily="18" charset="0"/>
                <a:cs typeface="Times New Roman" panose="02020603050405020304" pitchFamily="18" charset="0"/>
              </a:rPr>
              <a:t> would track all document activities for accountability and transparency. Additionally, integration with multiple cloud providers such as AWS, Google Cloud, and Azure would offer users flexibility in secure data storage. Lastly, </a:t>
            </a:r>
            <a:r>
              <a:rPr lang="en-IN" sz="1600" b="1" dirty="0">
                <a:latin typeface="Times New Roman" panose="02020603050405020304" pitchFamily="18" charset="0"/>
                <a:cs typeface="Times New Roman" panose="02020603050405020304" pitchFamily="18" charset="0"/>
              </a:rPr>
              <a:t>performance optimization</a:t>
            </a:r>
            <a:r>
              <a:rPr lang="en-IN" sz="1600" dirty="0">
                <a:latin typeface="Times New Roman" panose="02020603050405020304" pitchFamily="18" charset="0"/>
                <a:cs typeface="Times New Roman" panose="02020603050405020304" pitchFamily="18" charset="0"/>
              </a:rPr>
              <a:t> techniques would ensure that the system can handle large-scale data and a high number of concurrent users without compromising security or efficiency.</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3262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494" y="0"/>
            <a:ext cx="10018713" cy="581297"/>
          </a:xfrm>
        </p:spPr>
        <p:txBody>
          <a:bodyPr>
            <a:normAutofit/>
          </a:bodyPr>
          <a:lstStyle/>
          <a:p>
            <a:pPr algn="ctr"/>
            <a:r>
              <a:rPr lang="en-US" sz="3200" b="1" dirty="0">
                <a:solidFill>
                  <a:schemeClr val="tx1"/>
                </a:solidFill>
              </a:rPr>
              <a:t>REFERANCES</a:t>
            </a:r>
            <a:endParaRPr lang="en-IN" sz="3200" dirty="0">
              <a:solidFill>
                <a:schemeClr val="tx1"/>
              </a:solidFill>
            </a:endParaRPr>
          </a:p>
        </p:txBody>
      </p:sp>
      <p:sp>
        <p:nvSpPr>
          <p:cNvPr id="3" name="Content Placeholder 2"/>
          <p:cNvSpPr>
            <a:spLocks noGrp="1"/>
          </p:cNvSpPr>
          <p:nvPr>
            <p:ph idx="1"/>
          </p:nvPr>
        </p:nvSpPr>
        <p:spPr>
          <a:xfrm>
            <a:off x="1683885" y="-236285"/>
            <a:ext cx="10018714" cy="7094285"/>
          </a:xfrm>
        </p:spPr>
        <p:txBody>
          <a:bodyPr>
            <a:noAutofit/>
          </a:bodyPr>
          <a:lstStyle/>
          <a:p>
            <a:pPr lvl="0" algn="just"/>
            <a:r>
              <a:rPr lang="en-US" sz="1600" b="1" dirty="0" err="1">
                <a:latin typeface="Times New Roman" panose="02020603050405020304" pitchFamily="18" charset="0"/>
                <a:cs typeface="Times New Roman" panose="02020603050405020304" pitchFamily="18" charset="0"/>
              </a:rPr>
              <a:t>Rongxing</a:t>
            </a:r>
            <a:r>
              <a:rPr lang="en-US" sz="1600" b="1" dirty="0">
                <a:latin typeface="Times New Roman" panose="02020603050405020304" pitchFamily="18" charset="0"/>
                <a:cs typeface="Times New Roman" panose="02020603050405020304" pitchFamily="18" charset="0"/>
              </a:rPr>
              <a:t> Lu, </a:t>
            </a:r>
            <a:r>
              <a:rPr lang="en-US" sz="1600" b="1" dirty="0" err="1">
                <a:latin typeface="Times New Roman" panose="02020603050405020304" pitchFamily="18" charset="0"/>
                <a:cs typeface="Times New Roman" panose="02020603050405020304" pitchFamily="18" charset="0"/>
              </a:rPr>
              <a:t>Xingliang</a:t>
            </a:r>
            <a:r>
              <a:rPr lang="en-US" sz="1600" b="1" dirty="0">
                <a:latin typeface="Times New Roman" panose="02020603050405020304" pitchFamily="18" charset="0"/>
                <a:cs typeface="Times New Roman" panose="02020603050405020304" pitchFamily="18" charset="0"/>
              </a:rPr>
              <a:t> Yuan, and Xiaodong Lin, “Homomorphic Encryption for Cloud Computing: An Overview.” IEEE Communications Surveys &amp; Tutorials, 2021.</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paper provides an overview of homomorphic encryption, focusing on its application in cloud computing and the challenges it faces in practical implementations.</a:t>
            </a:r>
            <a:endParaRPr lang="en-IN" sz="1600"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Dongsheng Li, </a:t>
            </a:r>
            <a:r>
              <a:rPr lang="en-US" sz="1600" b="1" dirty="0" err="1">
                <a:latin typeface="Times New Roman" panose="02020603050405020304" pitchFamily="18" charset="0"/>
                <a:cs typeface="Times New Roman" panose="02020603050405020304" pitchFamily="18" charset="0"/>
              </a:rPr>
              <a:t>Qingxu</a:t>
            </a:r>
            <a:r>
              <a:rPr lang="en-US" sz="1600" b="1" dirty="0">
                <a:latin typeface="Times New Roman" panose="02020603050405020304" pitchFamily="18" charset="0"/>
                <a:cs typeface="Times New Roman" panose="02020603050405020304" pitchFamily="18" charset="0"/>
              </a:rPr>
              <a:t> Li, and Shanshan Li, “A Survey on Post-Quantum Cryptography: Algorithms and Implementations.” IEEE Access, 2021.</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survey explores post-quantum cryptographic algorithms, their applications, and their resistance to quantum computing.</a:t>
            </a:r>
            <a:endParaRPr lang="en-IN" sz="1600"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David J. Bernstein, Tanja Lange, and Christiane Peters, “Post-Quantum Cryptography: A New Era for Secure Communication.” Nature Communications, 2020.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paper examines the growing need for post-quantum cryptography and provides an overview of current and emerging quantum-resistant algorithms.</a:t>
            </a:r>
            <a:endParaRPr lang="en-IN" sz="1600"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Wei Zhang, </a:t>
            </a:r>
            <a:r>
              <a:rPr lang="en-US" sz="1600" b="1" dirty="0" err="1">
                <a:latin typeface="Times New Roman" panose="02020603050405020304" pitchFamily="18" charset="0"/>
                <a:cs typeface="Times New Roman" panose="02020603050405020304" pitchFamily="18" charset="0"/>
              </a:rPr>
              <a:t>Xuefeng</a:t>
            </a:r>
            <a:r>
              <a:rPr lang="en-US" sz="1600" b="1" dirty="0">
                <a:latin typeface="Times New Roman" panose="02020603050405020304" pitchFamily="18" charset="0"/>
                <a:cs typeface="Times New Roman" panose="02020603050405020304" pitchFamily="18" charset="0"/>
              </a:rPr>
              <a:t> Liu, and Xiang Liu, “AES Encryption in Modern Cryptography: A Survey.” International Journal of Computer Science and Network Security, 2020.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paper surveys the AES encryption standard, its applications, and the challenges faced with AES encryption in modern cryptographic systems.</a:t>
            </a:r>
            <a:endParaRPr lang="en-IN" sz="1600"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Yuval </a:t>
            </a:r>
            <a:r>
              <a:rPr lang="en-US" sz="1600" b="1" dirty="0" err="1">
                <a:latin typeface="Times New Roman" panose="02020603050405020304" pitchFamily="18" charset="0"/>
                <a:cs typeface="Times New Roman" panose="02020603050405020304" pitchFamily="18" charset="0"/>
              </a:rPr>
              <a:t>Ishai</a:t>
            </a:r>
            <a:r>
              <a:rPr lang="en-US" sz="1600" b="1" dirty="0">
                <a:latin typeface="Times New Roman" panose="02020603050405020304" pitchFamily="18" charset="0"/>
                <a:cs typeface="Times New Roman" panose="02020603050405020304" pitchFamily="18" charset="0"/>
              </a:rPr>
              <a:t>, Erez </a:t>
            </a:r>
            <a:r>
              <a:rPr lang="en-US" sz="1600" b="1" dirty="0" err="1">
                <a:latin typeface="Times New Roman" panose="02020603050405020304" pitchFamily="18" charset="0"/>
                <a:cs typeface="Times New Roman" panose="02020603050405020304" pitchFamily="18" charset="0"/>
              </a:rPr>
              <a:t>Petrank</a:t>
            </a:r>
            <a:r>
              <a:rPr lang="en-US" sz="1600" b="1" dirty="0">
                <a:latin typeface="Times New Roman" panose="02020603050405020304" pitchFamily="18" charset="0"/>
                <a:cs typeface="Times New Roman" panose="02020603050405020304" pitchFamily="18" charset="0"/>
              </a:rPr>
              <a:t>, and Guy N. </a:t>
            </a:r>
            <a:r>
              <a:rPr lang="en-US" sz="1600" b="1" dirty="0" err="1">
                <a:latin typeface="Times New Roman" panose="02020603050405020304" pitchFamily="18" charset="0"/>
                <a:cs typeface="Times New Roman" panose="02020603050405020304" pitchFamily="18" charset="0"/>
              </a:rPr>
              <a:t>Rothblum</a:t>
            </a:r>
            <a:r>
              <a:rPr lang="en-US" sz="1600" b="1" dirty="0">
                <a:latin typeface="Times New Roman" panose="02020603050405020304" pitchFamily="18" charset="0"/>
                <a:cs typeface="Times New Roman" panose="02020603050405020304" pitchFamily="18" charset="0"/>
              </a:rPr>
              <a:t>, “Cryptographic Signatures Based on the Heisenberg Group.” Journal of Cryptology, 2019.</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paper introduces cryptographic signatures based on the Heisenberg group, providing a quantum-resistant approach to digital signature schemes.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219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494" y="0"/>
            <a:ext cx="10018713" cy="581297"/>
          </a:xfrm>
        </p:spPr>
        <p:txBody>
          <a:bodyPr>
            <a:normAutofit/>
          </a:bodyPr>
          <a:lstStyle/>
          <a:p>
            <a:pPr algn="ctr"/>
            <a:r>
              <a:rPr lang="en-US" sz="3200" b="1" dirty="0">
                <a:solidFill>
                  <a:schemeClr val="tx1"/>
                </a:solidFill>
              </a:rPr>
              <a:t>REFERANCES</a:t>
            </a:r>
            <a:endParaRPr lang="en-IN" sz="3200" dirty="0">
              <a:solidFill>
                <a:schemeClr val="tx1"/>
              </a:solidFill>
            </a:endParaRPr>
          </a:p>
        </p:txBody>
      </p:sp>
      <p:sp>
        <p:nvSpPr>
          <p:cNvPr id="3" name="Content Placeholder 2"/>
          <p:cNvSpPr>
            <a:spLocks noGrp="1"/>
          </p:cNvSpPr>
          <p:nvPr>
            <p:ph idx="1"/>
          </p:nvPr>
        </p:nvSpPr>
        <p:spPr>
          <a:xfrm>
            <a:off x="2127663" y="0"/>
            <a:ext cx="10236482" cy="7138890"/>
          </a:xfrm>
        </p:spPr>
        <p:txBody>
          <a:bodyPr>
            <a:noAutofit/>
          </a:bodyPr>
          <a:lstStyle/>
          <a:p>
            <a:pPr lvl="0" algn="just"/>
            <a:r>
              <a:rPr lang="en-US" sz="1600" b="1" dirty="0">
                <a:latin typeface="Times New Roman" panose="02020603050405020304" pitchFamily="18" charset="0"/>
                <a:cs typeface="Times New Roman" panose="02020603050405020304" pitchFamily="18" charset="0"/>
              </a:rPr>
              <a:t>Shachar </a:t>
            </a:r>
            <a:r>
              <a:rPr lang="en-US" sz="1600" b="1" dirty="0" err="1">
                <a:latin typeface="Times New Roman" panose="02020603050405020304" pitchFamily="18" charset="0"/>
                <a:cs typeface="Times New Roman" panose="02020603050405020304" pitchFamily="18" charset="0"/>
              </a:rPr>
              <a:t>Itzhaky</a:t>
            </a:r>
            <a:r>
              <a:rPr lang="en-US" sz="1600" b="1" dirty="0">
                <a:latin typeface="Times New Roman" panose="02020603050405020304" pitchFamily="18" charset="0"/>
                <a:cs typeface="Times New Roman" panose="02020603050405020304" pitchFamily="18" charset="0"/>
              </a:rPr>
              <a:t>, Ori Shai, and Adi Shamir, “Quantum-Resistant Digital Signature Schemes: An Overview.” IEEE Transactions on Information Forensics and Security, 2021.</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paper provides an overview of quantum-resistant digital signature schemes, highlighting their potential to secure digital communications in a quantum computing era.</a:t>
            </a:r>
            <a:endParaRPr lang="en-IN" sz="1600"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Jian Guo, </a:t>
            </a:r>
            <a:r>
              <a:rPr lang="en-US" sz="1600" b="1" dirty="0" err="1">
                <a:latin typeface="Times New Roman" panose="02020603050405020304" pitchFamily="18" charset="0"/>
                <a:cs typeface="Times New Roman" panose="02020603050405020304" pitchFamily="18" charset="0"/>
              </a:rPr>
              <a:t>Shuangyong</a:t>
            </a:r>
            <a:r>
              <a:rPr lang="en-US" sz="1600" b="1" dirty="0">
                <a:latin typeface="Times New Roman" panose="02020603050405020304" pitchFamily="18" charset="0"/>
                <a:cs typeface="Times New Roman" panose="02020603050405020304" pitchFamily="18" charset="0"/>
              </a:rPr>
              <a:t> Yuan, and Neng Yu, “Post-Quantum Cryptographic Digital Signature Schemes: A Survey.” Journal of Cryptographic Engineering, 2020.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article surveys various post-quantum digital signature schemes, analyzing their security and performance under quantum computing threats.</a:t>
            </a:r>
            <a:endParaRPr lang="en-IN" sz="1600"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Xiaoyan Li, Xiaodong Lin, and Anni Qiao, “Efficient Quantum-Resistant Digital Signature Schemes for Blockchain.” International Journal of Information Security, 2020.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paper discusses quantum-resistant digital signature schemes, specifically focusing on their application in blockchain environments.</a:t>
            </a:r>
            <a:endParaRPr lang="en-IN" sz="1600"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Rafael K. Guyon, “An Overview of Quantum Cryptography and Its Application to Secure Communications.” IEEE Transactions on Quantum Engineering, 2021.</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paper provides a comprehensive overview of quantum cryptography and its potential applications in securing digital communications in a quantum future.</a:t>
            </a:r>
            <a:endParaRPr lang="en-IN" sz="1600"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Amit K. Ghosh, Amit Agarwal, and Sandeep K. Garg, “Quantum Safe Digital Signature Schemes and Their Applications in Blockchain.” IEEE Access, 2020.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paper discusses quantum-safe digital signature schemes, with a focus on their use in blockchain technology for secure transactions.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37907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444</TotalTime>
  <Words>3874</Words>
  <Application>Microsoft Office PowerPoint</Application>
  <PresentationFormat>Widescreen</PresentationFormat>
  <Paragraphs>170</Paragraphs>
  <Slides>37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Corbel</vt:lpstr>
      <vt:lpstr>Times New Roman</vt:lpstr>
      <vt:lpstr>Wingdings</vt:lpstr>
      <vt:lpstr>Parallax</vt:lpstr>
      <vt:lpstr>PowerPoint Presentation</vt:lpstr>
      <vt:lpstr> INDEX</vt:lpstr>
      <vt:lpstr> ABSTRACT</vt:lpstr>
      <vt:lpstr>INTRODUCTION</vt:lpstr>
      <vt:lpstr>INTRODUCTION</vt:lpstr>
      <vt:lpstr>Motivation</vt:lpstr>
      <vt:lpstr>Objective </vt:lpstr>
      <vt:lpstr>Problem Statement</vt:lpstr>
      <vt:lpstr>Scope</vt:lpstr>
      <vt:lpstr>PowerPoint Presentation</vt:lpstr>
      <vt:lpstr>PowerPoint Presentation</vt:lpstr>
      <vt:lpstr>EXISTING METHOD  </vt:lpstr>
      <vt:lpstr>Disadvantages</vt:lpstr>
      <vt:lpstr>PROPOSED SYSTEM</vt:lpstr>
      <vt:lpstr>PROJECT FLOW</vt:lpstr>
      <vt:lpstr>ADVANTAGES </vt:lpstr>
      <vt:lpstr>PowerPoint Presentation</vt:lpstr>
      <vt:lpstr>Implementation: </vt:lpstr>
      <vt:lpstr>PowerPoint Presentation</vt:lpstr>
      <vt:lpstr>HARDWARE AND SOFTWARE REQUIREMENTS </vt:lpstr>
      <vt:lpstr>SOFTWARE SYSTEM CONFIGURATION</vt:lpstr>
      <vt:lpstr>UML Diagrams </vt:lpstr>
      <vt:lpstr>UML Diagrams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FUTURE ENHANCEMENT</vt:lpstr>
      <vt:lpstr>REFERANCES</vt:lpstr>
      <vt:lpstr>REFERANCES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Devishreevani S</dc:creator>
  <cp:lastModifiedBy>Karani Rakesh</cp:lastModifiedBy>
  <cp:revision>58</cp:revision>
  <dcterms:created xsi:type="dcterms:W3CDTF">2024-12-05T09:05:52Z</dcterms:created>
  <dcterms:modified xsi:type="dcterms:W3CDTF">2026-02-10T13:44:53Z</dcterms:modified>
</cp:coreProperties>
</file>